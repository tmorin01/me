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7"/>
  </p:notesMasterIdLst>
  <p:sldIdLst>
    <p:sldId id="256" r:id="rId2"/>
    <p:sldId id="494" r:id="rId3"/>
    <p:sldId id="495" r:id="rId4"/>
    <p:sldId id="471" r:id="rId5"/>
    <p:sldId id="257" r:id="rId6"/>
    <p:sldId id="466" r:id="rId7"/>
    <p:sldId id="258" r:id="rId8"/>
    <p:sldId id="460" r:id="rId9"/>
    <p:sldId id="310" r:id="rId10"/>
    <p:sldId id="462" r:id="rId11"/>
    <p:sldId id="285" r:id="rId12"/>
    <p:sldId id="302" r:id="rId13"/>
    <p:sldId id="455" r:id="rId14"/>
    <p:sldId id="461" r:id="rId15"/>
    <p:sldId id="475" r:id="rId16"/>
    <p:sldId id="476" r:id="rId17"/>
    <p:sldId id="477" r:id="rId18"/>
    <p:sldId id="478" r:id="rId19"/>
    <p:sldId id="479" r:id="rId20"/>
    <p:sldId id="480" r:id="rId21"/>
    <p:sldId id="481" r:id="rId22"/>
    <p:sldId id="474" r:id="rId23"/>
    <p:sldId id="482" r:id="rId24"/>
    <p:sldId id="484" r:id="rId25"/>
    <p:sldId id="485" r:id="rId26"/>
    <p:sldId id="486" r:id="rId27"/>
    <p:sldId id="470" r:id="rId28"/>
    <p:sldId id="488" r:id="rId29"/>
    <p:sldId id="487" r:id="rId30"/>
    <p:sldId id="489" r:id="rId31"/>
    <p:sldId id="490" r:id="rId32"/>
    <p:sldId id="491" r:id="rId33"/>
    <p:sldId id="493" r:id="rId34"/>
    <p:sldId id="464" r:id="rId35"/>
    <p:sldId id="492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E9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9"/>
    <p:restoredTop sz="87187"/>
  </p:normalViewPr>
  <p:slideViewPr>
    <p:cSldViewPr snapToGrid="0">
      <p:cViewPr varScale="1">
        <p:scale>
          <a:sx n="104" d="100"/>
          <a:sy n="104" d="100"/>
        </p:scale>
        <p:origin x="218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CD923C-71B0-CE47-8A73-10D41A12DD98}" type="doc">
      <dgm:prSet loTypeId="urn:microsoft.com/office/officeart/2005/8/layout/chevron1" loCatId="" qsTypeId="urn:microsoft.com/office/officeart/2005/8/quickstyle/simple1" qsCatId="simple" csTypeId="urn:microsoft.com/office/officeart/2005/8/colors/colorful1" csCatId="colorful" phldr="1"/>
      <dgm:spPr/>
    </dgm:pt>
    <dgm:pt modelId="{8E11C7F6-DC43-8749-82ED-9940B11C6035}">
      <dgm:prSet phldrT="[Text]"/>
      <dgm:spPr/>
      <dgm:t>
        <a:bodyPr/>
        <a:lstStyle/>
        <a:p>
          <a:r>
            <a:rPr lang="en-US" dirty="0"/>
            <a:t>Collect Data</a:t>
          </a:r>
        </a:p>
      </dgm:t>
    </dgm:pt>
    <dgm:pt modelId="{31F90BF0-5A0A-7B45-BB2A-36043B69724C}" type="parTrans" cxnId="{CD17CB36-C184-AB4A-B38B-EFE233B3FEB5}">
      <dgm:prSet/>
      <dgm:spPr/>
      <dgm:t>
        <a:bodyPr/>
        <a:lstStyle/>
        <a:p>
          <a:endParaRPr lang="en-US"/>
        </a:p>
      </dgm:t>
    </dgm:pt>
    <dgm:pt modelId="{D9E0BFC5-0C28-244E-A8EE-D7E855460281}" type="sibTrans" cxnId="{CD17CB36-C184-AB4A-B38B-EFE233B3FEB5}">
      <dgm:prSet/>
      <dgm:spPr/>
      <dgm:t>
        <a:bodyPr/>
        <a:lstStyle/>
        <a:p>
          <a:endParaRPr lang="en-US"/>
        </a:p>
      </dgm:t>
    </dgm:pt>
    <dgm:pt modelId="{C465F380-5E8C-D942-AEB7-AED5989B905F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Organize &amp; Clean Data</a:t>
          </a:r>
        </a:p>
      </dgm:t>
    </dgm:pt>
    <dgm:pt modelId="{C63AAF53-76DC-5F4E-92B5-51FDD77BE37B}" type="parTrans" cxnId="{44764D99-3400-2F4E-BC51-EB13B55A8F25}">
      <dgm:prSet/>
      <dgm:spPr/>
      <dgm:t>
        <a:bodyPr/>
        <a:lstStyle/>
        <a:p>
          <a:endParaRPr lang="en-US"/>
        </a:p>
      </dgm:t>
    </dgm:pt>
    <dgm:pt modelId="{AA923009-C0D1-6E47-B4F3-8F37C801DC75}" type="sibTrans" cxnId="{44764D99-3400-2F4E-BC51-EB13B55A8F25}">
      <dgm:prSet/>
      <dgm:spPr/>
      <dgm:t>
        <a:bodyPr/>
        <a:lstStyle/>
        <a:p>
          <a:endParaRPr lang="en-US"/>
        </a:p>
      </dgm:t>
    </dgm:pt>
    <dgm:pt modelId="{0F236659-4B40-CE4F-8167-0DB635FDDDEE}">
      <dgm:prSet phldrT="[Text]"/>
      <dgm:spPr/>
      <dgm:t>
        <a:bodyPr/>
        <a:lstStyle/>
        <a:p>
          <a:r>
            <a:rPr lang="en-US" dirty="0"/>
            <a:t>Analyze Data</a:t>
          </a:r>
        </a:p>
      </dgm:t>
    </dgm:pt>
    <dgm:pt modelId="{454ABC59-EB92-F640-BB5E-2770BFE65369}" type="parTrans" cxnId="{9DCC64C7-D788-044C-A46E-3FE34D0A465F}">
      <dgm:prSet/>
      <dgm:spPr/>
      <dgm:t>
        <a:bodyPr/>
        <a:lstStyle/>
        <a:p>
          <a:endParaRPr lang="en-US"/>
        </a:p>
      </dgm:t>
    </dgm:pt>
    <dgm:pt modelId="{EEA4C6D2-7577-3846-9D3A-4C62DD74AC06}" type="sibTrans" cxnId="{9DCC64C7-D788-044C-A46E-3FE34D0A465F}">
      <dgm:prSet/>
      <dgm:spPr/>
      <dgm:t>
        <a:bodyPr/>
        <a:lstStyle/>
        <a:p>
          <a:endParaRPr lang="en-US"/>
        </a:p>
      </dgm:t>
    </dgm:pt>
    <dgm:pt modelId="{5328D154-FD8E-6A4F-A26B-3C027CC13131}" type="pres">
      <dgm:prSet presAssocID="{F7CD923C-71B0-CE47-8A73-10D41A12DD98}" presName="Name0" presStyleCnt="0">
        <dgm:presLayoutVars>
          <dgm:dir/>
          <dgm:animLvl val="lvl"/>
          <dgm:resizeHandles val="exact"/>
        </dgm:presLayoutVars>
      </dgm:prSet>
      <dgm:spPr/>
    </dgm:pt>
    <dgm:pt modelId="{4598BA86-E73F-9F46-9B7A-D4AB9E4F4B97}" type="pres">
      <dgm:prSet presAssocID="{8E11C7F6-DC43-8749-82ED-9940B11C603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1EF9A8C8-D216-B247-BB73-447379C6BB26}" type="pres">
      <dgm:prSet presAssocID="{D9E0BFC5-0C28-244E-A8EE-D7E855460281}" presName="parTxOnlySpace" presStyleCnt="0"/>
      <dgm:spPr/>
    </dgm:pt>
    <dgm:pt modelId="{6F104116-18C0-7649-A0DA-1F8F305B7B41}" type="pres">
      <dgm:prSet presAssocID="{C465F380-5E8C-D942-AEB7-AED5989B905F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359E208-1051-F547-8384-638BA18CDD24}" type="pres">
      <dgm:prSet presAssocID="{AA923009-C0D1-6E47-B4F3-8F37C801DC75}" presName="parTxOnlySpace" presStyleCnt="0"/>
      <dgm:spPr/>
    </dgm:pt>
    <dgm:pt modelId="{557A29EA-B99C-9941-8DC8-1D4A33A9B797}" type="pres">
      <dgm:prSet presAssocID="{0F236659-4B40-CE4F-8167-0DB635FDDDE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5E4B2300-BC6E-E743-8645-75EFBAD534F2}" type="presOf" srcId="{C465F380-5E8C-D942-AEB7-AED5989B905F}" destId="{6F104116-18C0-7649-A0DA-1F8F305B7B41}" srcOrd="0" destOrd="0" presId="urn:microsoft.com/office/officeart/2005/8/layout/chevron1"/>
    <dgm:cxn modelId="{07665A34-7790-2B45-BF82-D5D261D4CDE1}" type="presOf" srcId="{0F236659-4B40-CE4F-8167-0DB635FDDDEE}" destId="{557A29EA-B99C-9941-8DC8-1D4A33A9B797}" srcOrd="0" destOrd="0" presId="urn:microsoft.com/office/officeart/2005/8/layout/chevron1"/>
    <dgm:cxn modelId="{CD17CB36-C184-AB4A-B38B-EFE233B3FEB5}" srcId="{F7CD923C-71B0-CE47-8A73-10D41A12DD98}" destId="{8E11C7F6-DC43-8749-82ED-9940B11C6035}" srcOrd="0" destOrd="0" parTransId="{31F90BF0-5A0A-7B45-BB2A-36043B69724C}" sibTransId="{D9E0BFC5-0C28-244E-A8EE-D7E855460281}"/>
    <dgm:cxn modelId="{20460B6A-F593-3348-AFF5-8F5D3A7E7BA0}" type="presOf" srcId="{F7CD923C-71B0-CE47-8A73-10D41A12DD98}" destId="{5328D154-FD8E-6A4F-A26B-3C027CC13131}" srcOrd="0" destOrd="0" presId="urn:microsoft.com/office/officeart/2005/8/layout/chevron1"/>
    <dgm:cxn modelId="{44764D99-3400-2F4E-BC51-EB13B55A8F25}" srcId="{F7CD923C-71B0-CE47-8A73-10D41A12DD98}" destId="{C465F380-5E8C-D942-AEB7-AED5989B905F}" srcOrd="1" destOrd="0" parTransId="{C63AAF53-76DC-5F4E-92B5-51FDD77BE37B}" sibTransId="{AA923009-C0D1-6E47-B4F3-8F37C801DC75}"/>
    <dgm:cxn modelId="{CC17D99E-EF96-C742-BE69-F645098EE1FC}" type="presOf" srcId="{8E11C7F6-DC43-8749-82ED-9940B11C6035}" destId="{4598BA86-E73F-9F46-9B7A-D4AB9E4F4B97}" srcOrd="0" destOrd="0" presId="urn:microsoft.com/office/officeart/2005/8/layout/chevron1"/>
    <dgm:cxn modelId="{9DCC64C7-D788-044C-A46E-3FE34D0A465F}" srcId="{F7CD923C-71B0-CE47-8A73-10D41A12DD98}" destId="{0F236659-4B40-CE4F-8167-0DB635FDDDEE}" srcOrd="2" destOrd="0" parTransId="{454ABC59-EB92-F640-BB5E-2770BFE65369}" sibTransId="{EEA4C6D2-7577-3846-9D3A-4C62DD74AC06}"/>
    <dgm:cxn modelId="{7E9DC545-5470-9D47-A6D1-B287028466E3}" type="presParOf" srcId="{5328D154-FD8E-6A4F-A26B-3C027CC13131}" destId="{4598BA86-E73F-9F46-9B7A-D4AB9E4F4B97}" srcOrd="0" destOrd="0" presId="urn:microsoft.com/office/officeart/2005/8/layout/chevron1"/>
    <dgm:cxn modelId="{4D931539-0F95-6547-9118-412BFD8991B8}" type="presParOf" srcId="{5328D154-FD8E-6A4F-A26B-3C027CC13131}" destId="{1EF9A8C8-D216-B247-BB73-447379C6BB26}" srcOrd="1" destOrd="0" presId="urn:microsoft.com/office/officeart/2005/8/layout/chevron1"/>
    <dgm:cxn modelId="{2B1CCA70-40E5-D946-869E-1B3B678E84D6}" type="presParOf" srcId="{5328D154-FD8E-6A4F-A26B-3C027CC13131}" destId="{6F104116-18C0-7649-A0DA-1F8F305B7B41}" srcOrd="2" destOrd="0" presId="urn:microsoft.com/office/officeart/2005/8/layout/chevron1"/>
    <dgm:cxn modelId="{FA15A7B3-0C11-B849-B7E0-A357E9C8DDAD}" type="presParOf" srcId="{5328D154-FD8E-6A4F-A26B-3C027CC13131}" destId="{A359E208-1051-F547-8384-638BA18CDD24}" srcOrd="3" destOrd="0" presId="urn:microsoft.com/office/officeart/2005/8/layout/chevron1"/>
    <dgm:cxn modelId="{26832FCA-9021-6E42-BE0E-8F44BDBDA080}" type="presParOf" srcId="{5328D154-FD8E-6A4F-A26B-3C027CC13131}" destId="{557A29EA-B99C-9941-8DC8-1D4A33A9B797}" srcOrd="4" destOrd="0" presId="urn:microsoft.com/office/officeart/2005/8/layout/chevron1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B72F632-E5C5-2C49-856B-422C103F92AB}" type="doc">
      <dgm:prSet loTypeId="urn:microsoft.com/office/officeart/2005/8/layout/lProcess3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1218D47D-DA35-604D-83FA-DD957BA95CD6}">
      <dgm:prSet phldrT="[Text]"/>
      <dgm:spPr/>
      <dgm:t>
        <a:bodyPr/>
        <a:lstStyle/>
        <a:p>
          <a:r>
            <a:rPr lang="en-US" dirty="0"/>
            <a:t>Downloading to:</a:t>
          </a:r>
        </a:p>
      </dgm:t>
    </dgm:pt>
    <dgm:pt modelId="{CCBE1013-FCE6-DC43-AB8D-E3D5AE563C36}" type="parTrans" cxnId="{EAA16CBF-58A8-C24A-9EF5-E6540772C85B}">
      <dgm:prSet/>
      <dgm:spPr/>
      <dgm:t>
        <a:bodyPr/>
        <a:lstStyle/>
        <a:p>
          <a:endParaRPr lang="en-US"/>
        </a:p>
      </dgm:t>
    </dgm:pt>
    <dgm:pt modelId="{62BAB8FF-3A58-DA46-BC49-C15194068C1A}" type="sibTrans" cxnId="{EAA16CBF-58A8-C24A-9EF5-E6540772C85B}">
      <dgm:prSet/>
      <dgm:spPr/>
      <dgm:t>
        <a:bodyPr/>
        <a:lstStyle/>
        <a:p>
          <a:endParaRPr lang="en-US"/>
        </a:p>
      </dgm:t>
    </dgm:pt>
    <dgm:pt modelId="{DFF0A6F7-3A26-214E-950D-C69C372214D5}">
      <dgm:prSet phldrT="[Text]"/>
      <dgm:spPr/>
      <dgm:t>
        <a:bodyPr/>
        <a:lstStyle/>
        <a:p>
          <a:r>
            <a:rPr lang="en-US" dirty="0" err="1"/>
            <a:t>sourcedata</a:t>
          </a:r>
          <a:endParaRPr lang="en-US" dirty="0"/>
        </a:p>
      </dgm:t>
    </dgm:pt>
    <dgm:pt modelId="{A10F8F89-E3A5-044B-B9A5-DC6EAAD84EAE}" type="parTrans" cxnId="{A7D16E06-7A47-DA4B-ACA0-9A5F4FAB3D33}">
      <dgm:prSet/>
      <dgm:spPr/>
      <dgm:t>
        <a:bodyPr/>
        <a:lstStyle/>
        <a:p>
          <a:endParaRPr lang="en-US"/>
        </a:p>
      </dgm:t>
    </dgm:pt>
    <dgm:pt modelId="{22BA03F6-7A3A-9443-ADBC-B834C566D813}" type="sibTrans" cxnId="{A7D16E06-7A47-DA4B-ACA0-9A5F4FAB3D33}">
      <dgm:prSet/>
      <dgm:spPr/>
      <dgm:t>
        <a:bodyPr/>
        <a:lstStyle/>
        <a:p>
          <a:endParaRPr lang="en-US"/>
        </a:p>
      </dgm:t>
    </dgm:pt>
    <dgm:pt modelId="{1D2FC6A9-1BB4-DD47-98E7-D69D82767477}">
      <dgm:prSet phldrT="[Text]"/>
      <dgm:spPr/>
      <dgm:t>
        <a:bodyPr/>
        <a:lstStyle/>
        <a:p>
          <a:r>
            <a:rPr lang="en-US" dirty="0"/>
            <a:t>Unpacking to:</a:t>
          </a:r>
        </a:p>
      </dgm:t>
    </dgm:pt>
    <dgm:pt modelId="{6670CE8E-A223-9F43-96EB-EAEC3429FE14}" type="parTrans" cxnId="{294362B3-0398-544C-B1CA-5EFB66A260FC}">
      <dgm:prSet/>
      <dgm:spPr/>
      <dgm:t>
        <a:bodyPr/>
        <a:lstStyle/>
        <a:p>
          <a:endParaRPr lang="en-US"/>
        </a:p>
      </dgm:t>
    </dgm:pt>
    <dgm:pt modelId="{E5560125-6516-0C47-8E32-9ED8BA1C7BC6}" type="sibTrans" cxnId="{294362B3-0398-544C-B1CA-5EFB66A260FC}">
      <dgm:prSet/>
      <dgm:spPr/>
      <dgm:t>
        <a:bodyPr/>
        <a:lstStyle/>
        <a:p>
          <a:endParaRPr lang="en-US"/>
        </a:p>
      </dgm:t>
    </dgm:pt>
    <dgm:pt modelId="{A92BB2BE-ECB9-0045-9D9A-F6B321DDB6C2}">
      <dgm:prSet phldrT="[Text]"/>
      <dgm:spPr/>
      <dgm:t>
        <a:bodyPr/>
        <a:lstStyle/>
        <a:p>
          <a:r>
            <a:rPr lang="en-US" dirty="0"/>
            <a:t>Raw Data (Main BIDS Directory)</a:t>
          </a:r>
        </a:p>
      </dgm:t>
    </dgm:pt>
    <dgm:pt modelId="{673740E8-A45F-FB4B-BA1E-846A5F9CF726}" type="parTrans" cxnId="{2D950B80-928B-1E4D-B149-D3B9BDE95E3D}">
      <dgm:prSet/>
      <dgm:spPr/>
      <dgm:t>
        <a:bodyPr/>
        <a:lstStyle/>
        <a:p>
          <a:endParaRPr lang="en-US"/>
        </a:p>
      </dgm:t>
    </dgm:pt>
    <dgm:pt modelId="{84D5B03F-ABA4-414A-82D6-951BCBCDC094}" type="sibTrans" cxnId="{2D950B80-928B-1E4D-B149-D3B9BDE95E3D}">
      <dgm:prSet/>
      <dgm:spPr/>
      <dgm:t>
        <a:bodyPr/>
        <a:lstStyle/>
        <a:p>
          <a:endParaRPr lang="en-US"/>
        </a:p>
      </dgm:t>
    </dgm:pt>
    <dgm:pt modelId="{CA7EACF6-7542-A443-A82F-8300D2A8AA28}">
      <dgm:prSet phldrT="[Text]"/>
      <dgm:spPr/>
      <dgm:t>
        <a:bodyPr/>
        <a:lstStyle/>
        <a:p>
          <a:r>
            <a:rPr lang="en-US" dirty="0"/>
            <a:t>Preprocessing to:</a:t>
          </a:r>
        </a:p>
      </dgm:t>
    </dgm:pt>
    <dgm:pt modelId="{1B3CF4FF-DE1E-BA47-9B04-B12F73EAC354}" type="parTrans" cxnId="{52A7B3DA-BBC7-5945-9B31-1B2242E2DCEA}">
      <dgm:prSet/>
      <dgm:spPr/>
      <dgm:t>
        <a:bodyPr/>
        <a:lstStyle/>
        <a:p>
          <a:endParaRPr lang="en-US"/>
        </a:p>
      </dgm:t>
    </dgm:pt>
    <dgm:pt modelId="{F28F195B-EF66-AE4D-941B-33F09225953D}" type="sibTrans" cxnId="{52A7B3DA-BBC7-5945-9B31-1B2242E2DCEA}">
      <dgm:prSet/>
      <dgm:spPr/>
      <dgm:t>
        <a:bodyPr/>
        <a:lstStyle/>
        <a:p>
          <a:endParaRPr lang="en-US"/>
        </a:p>
      </dgm:t>
    </dgm:pt>
    <dgm:pt modelId="{54FB5CDB-D564-884B-981E-2DE22C826F79}">
      <dgm:prSet phldrT="[Text]"/>
      <dgm:spPr/>
      <dgm:t>
        <a:bodyPr/>
        <a:lstStyle/>
        <a:p>
          <a:r>
            <a:rPr lang="en-US" dirty="0"/>
            <a:t>derivatives</a:t>
          </a:r>
        </a:p>
      </dgm:t>
    </dgm:pt>
    <dgm:pt modelId="{26C2A547-07AB-A347-B4BD-994C0C880C96}" type="parTrans" cxnId="{582D1E8D-0990-9C47-866D-0A5A4C7896BB}">
      <dgm:prSet/>
      <dgm:spPr/>
      <dgm:t>
        <a:bodyPr/>
        <a:lstStyle/>
        <a:p>
          <a:endParaRPr lang="en-US"/>
        </a:p>
      </dgm:t>
    </dgm:pt>
    <dgm:pt modelId="{E5681DBB-7C82-4744-9EE3-CD3A799115AF}" type="sibTrans" cxnId="{582D1E8D-0990-9C47-866D-0A5A4C7896BB}">
      <dgm:prSet/>
      <dgm:spPr/>
      <dgm:t>
        <a:bodyPr/>
        <a:lstStyle/>
        <a:p>
          <a:endParaRPr lang="en-US"/>
        </a:p>
      </dgm:t>
    </dgm:pt>
    <dgm:pt modelId="{BEA6EC6C-5315-8146-A1D2-5598B4B109AA}" type="pres">
      <dgm:prSet presAssocID="{4B72F632-E5C5-2C49-856B-422C103F92A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4CDC6C9-80CA-9448-955B-FEE8B2E7F38A}" type="pres">
      <dgm:prSet presAssocID="{1218D47D-DA35-604D-83FA-DD957BA95CD6}" presName="horFlow" presStyleCnt="0"/>
      <dgm:spPr/>
    </dgm:pt>
    <dgm:pt modelId="{0AF0AB0C-1277-4943-B250-483E84B40387}" type="pres">
      <dgm:prSet presAssocID="{1218D47D-DA35-604D-83FA-DD957BA95CD6}" presName="bigChev" presStyleLbl="node1" presStyleIdx="0" presStyleCnt="3"/>
      <dgm:spPr/>
    </dgm:pt>
    <dgm:pt modelId="{97BD1043-2A14-B847-AE94-E38B8D413600}" type="pres">
      <dgm:prSet presAssocID="{A10F8F89-E3A5-044B-B9A5-DC6EAAD84EAE}" presName="parTrans" presStyleCnt="0"/>
      <dgm:spPr/>
    </dgm:pt>
    <dgm:pt modelId="{131AE6F6-6AB7-0C45-A89E-5633B0B66DA0}" type="pres">
      <dgm:prSet presAssocID="{DFF0A6F7-3A26-214E-950D-C69C372214D5}" presName="node" presStyleLbl="alignAccFollowNode1" presStyleIdx="0" presStyleCnt="3">
        <dgm:presLayoutVars>
          <dgm:bulletEnabled val="1"/>
        </dgm:presLayoutVars>
      </dgm:prSet>
      <dgm:spPr/>
    </dgm:pt>
    <dgm:pt modelId="{25AC9B58-931C-3C47-BD2A-6F2C6E6076C2}" type="pres">
      <dgm:prSet presAssocID="{1218D47D-DA35-604D-83FA-DD957BA95CD6}" presName="vSp" presStyleCnt="0"/>
      <dgm:spPr/>
    </dgm:pt>
    <dgm:pt modelId="{F13C756A-31A2-AF45-849D-0FBE76911D65}" type="pres">
      <dgm:prSet presAssocID="{1D2FC6A9-1BB4-DD47-98E7-D69D82767477}" presName="horFlow" presStyleCnt="0"/>
      <dgm:spPr/>
    </dgm:pt>
    <dgm:pt modelId="{503DEFF5-E9A1-0D40-9FC4-55A45CA7B57B}" type="pres">
      <dgm:prSet presAssocID="{1D2FC6A9-1BB4-DD47-98E7-D69D82767477}" presName="bigChev" presStyleLbl="node1" presStyleIdx="1" presStyleCnt="3"/>
      <dgm:spPr/>
    </dgm:pt>
    <dgm:pt modelId="{36C0A80D-6811-EA47-849D-ABC479FADEF3}" type="pres">
      <dgm:prSet presAssocID="{673740E8-A45F-FB4B-BA1E-846A5F9CF726}" presName="parTrans" presStyleCnt="0"/>
      <dgm:spPr/>
    </dgm:pt>
    <dgm:pt modelId="{96E4619F-2334-AA4A-9CDB-7B7A2C4E08F5}" type="pres">
      <dgm:prSet presAssocID="{A92BB2BE-ECB9-0045-9D9A-F6B321DDB6C2}" presName="node" presStyleLbl="alignAccFollowNode1" presStyleIdx="1" presStyleCnt="3">
        <dgm:presLayoutVars>
          <dgm:bulletEnabled val="1"/>
        </dgm:presLayoutVars>
      </dgm:prSet>
      <dgm:spPr/>
    </dgm:pt>
    <dgm:pt modelId="{ED4019E1-01A7-7A4E-8B76-4C80E2018AAC}" type="pres">
      <dgm:prSet presAssocID="{1D2FC6A9-1BB4-DD47-98E7-D69D82767477}" presName="vSp" presStyleCnt="0"/>
      <dgm:spPr/>
    </dgm:pt>
    <dgm:pt modelId="{64B582CA-BF76-4145-8F4B-BA2D8650A32E}" type="pres">
      <dgm:prSet presAssocID="{CA7EACF6-7542-A443-A82F-8300D2A8AA28}" presName="horFlow" presStyleCnt="0"/>
      <dgm:spPr/>
    </dgm:pt>
    <dgm:pt modelId="{72FF334B-CBE7-4446-BC3D-7D99ABBDAA0C}" type="pres">
      <dgm:prSet presAssocID="{CA7EACF6-7542-A443-A82F-8300D2A8AA28}" presName="bigChev" presStyleLbl="node1" presStyleIdx="2" presStyleCnt="3"/>
      <dgm:spPr/>
    </dgm:pt>
    <dgm:pt modelId="{A16599B1-8887-454E-BF9C-AD94E04ED63B}" type="pres">
      <dgm:prSet presAssocID="{26C2A547-07AB-A347-B4BD-994C0C880C96}" presName="parTrans" presStyleCnt="0"/>
      <dgm:spPr/>
    </dgm:pt>
    <dgm:pt modelId="{C9CDE331-6472-F74C-AEC5-9BCA57B1BC7F}" type="pres">
      <dgm:prSet presAssocID="{54FB5CDB-D564-884B-981E-2DE22C826F79}" presName="node" presStyleLbl="alignAccFollowNode1" presStyleIdx="2" presStyleCnt="3">
        <dgm:presLayoutVars>
          <dgm:bulletEnabled val="1"/>
        </dgm:presLayoutVars>
      </dgm:prSet>
      <dgm:spPr/>
    </dgm:pt>
  </dgm:ptLst>
  <dgm:cxnLst>
    <dgm:cxn modelId="{A7D16E06-7A47-DA4B-ACA0-9A5F4FAB3D33}" srcId="{1218D47D-DA35-604D-83FA-DD957BA95CD6}" destId="{DFF0A6F7-3A26-214E-950D-C69C372214D5}" srcOrd="0" destOrd="0" parTransId="{A10F8F89-E3A5-044B-B9A5-DC6EAAD84EAE}" sibTransId="{22BA03F6-7A3A-9443-ADBC-B834C566D813}"/>
    <dgm:cxn modelId="{6C8C8231-EE97-104A-A0F2-EA35E374656D}" type="presOf" srcId="{1218D47D-DA35-604D-83FA-DD957BA95CD6}" destId="{0AF0AB0C-1277-4943-B250-483E84B40387}" srcOrd="0" destOrd="0" presId="urn:microsoft.com/office/officeart/2005/8/layout/lProcess3"/>
    <dgm:cxn modelId="{F7227B47-522D-464A-A68B-33FC87D225E8}" type="presOf" srcId="{A92BB2BE-ECB9-0045-9D9A-F6B321DDB6C2}" destId="{96E4619F-2334-AA4A-9CDB-7B7A2C4E08F5}" srcOrd="0" destOrd="0" presId="urn:microsoft.com/office/officeart/2005/8/layout/lProcess3"/>
    <dgm:cxn modelId="{2D950B80-928B-1E4D-B149-D3B9BDE95E3D}" srcId="{1D2FC6A9-1BB4-DD47-98E7-D69D82767477}" destId="{A92BB2BE-ECB9-0045-9D9A-F6B321DDB6C2}" srcOrd="0" destOrd="0" parTransId="{673740E8-A45F-FB4B-BA1E-846A5F9CF726}" sibTransId="{84D5B03F-ABA4-414A-82D6-951BCBCDC094}"/>
    <dgm:cxn modelId="{582D1E8D-0990-9C47-866D-0A5A4C7896BB}" srcId="{CA7EACF6-7542-A443-A82F-8300D2A8AA28}" destId="{54FB5CDB-D564-884B-981E-2DE22C826F79}" srcOrd="0" destOrd="0" parTransId="{26C2A547-07AB-A347-B4BD-994C0C880C96}" sibTransId="{E5681DBB-7C82-4744-9EE3-CD3A799115AF}"/>
    <dgm:cxn modelId="{04193596-2D8D-0D41-BD65-178920FB73D0}" type="presOf" srcId="{CA7EACF6-7542-A443-A82F-8300D2A8AA28}" destId="{72FF334B-CBE7-4446-BC3D-7D99ABBDAA0C}" srcOrd="0" destOrd="0" presId="urn:microsoft.com/office/officeart/2005/8/layout/lProcess3"/>
    <dgm:cxn modelId="{C3C0EFA4-3052-CE4B-8967-0D564CC8E1D3}" type="presOf" srcId="{54FB5CDB-D564-884B-981E-2DE22C826F79}" destId="{C9CDE331-6472-F74C-AEC5-9BCA57B1BC7F}" srcOrd="0" destOrd="0" presId="urn:microsoft.com/office/officeart/2005/8/layout/lProcess3"/>
    <dgm:cxn modelId="{822EFBA5-0CE6-EF4F-8C81-78D497C22FDB}" type="presOf" srcId="{4B72F632-E5C5-2C49-856B-422C103F92AB}" destId="{BEA6EC6C-5315-8146-A1D2-5598B4B109AA}" srcOrd="0" destOrd="0" presId="urn:microsoft.com/office/officeart/2005/8/layout/lProcess3"/>
    <dgm:cxn modelId="{294362B3-0398-544C-B1CA-5EFB66A260FC}" srcId="{4B72F632-E5C5-2C49-856B-422C103F92AB}" destId="{1D2FC6A9-1BB4-DD47-98E7-D69D82767477}" srcOrd="1" destOrd="0" parTransId="{6670CE8E-A223-9F43-96EB-EAEC3429FE14}" sibTransId="{E5560125-6516-0C47-8E32-9ED8BA1C7BC6}"/>
    <dgm:cxn modelId="{4358B2B5-5990-D644-8CFE-2B8BB18BFE35}" type="presOf" srcId="{1D2FC6A9-1BB4-DD47-98E7-D69D82767477}" destId="{503DEFF5-E9A1-0D40-9FC4-55A45CA7B57B}" srcOrd="0" destOrd="0" presId="urn:microsoft.com/office/officeart/2005/8/layout/lProcess3"/>
    <dgm:cxn modelId="{EAA16CBF-58A8-C24A-9EF5-E6540772C85B}" srcId="{4B72F632-E5C5-2C49-856B-422C103F92AB}" destId="{1218D47D-DA35-604D-83FA-DD957BA95CD6}" srcOrd="0" destOrd="0" parTransId="{CCBE1013-FCE6-DC43-AB8D-E3D5AE563C36}" sibTransId="{62BAB8FF-3A58-DA46-BC49-C15194068C1A}"/>
    <dgm:cxn modelId="{DA0411C6-FF88-5440-BAE7-731489B264CC}" type="presOf" srcId="{DFF0A6F7-3A26-214E-950D-C69C372214D5}" destId="{131AE6F6-6AB7-0C45-A89E-5633B0B66DA0}" srcOrd="0" destOrd="0" presId="urn:microsoft.com/office/officeart/2005/8/layout/lProcess3"/>
    <dgm:cxn modelId="{52A7B3DA-BBC7-5945-9B31-1B2242E2DCEA}" srcId="{4B72F632-E5C5-2C49-856B-422C103F92AB}" destId="{CA7EACF6-7542-A443-A82F-8300D2A8AA28}" srcOrd="2" destOrd="0" parTransId="{1B3CF4FF-DE1E-BA47-9B04-B12F73EAC354}" sibTransId="{F28F195B-EF66-AE4D-941B-33F09225953D}"/>
    <dgm:cxn modelId="{23119BC1-FC38-3546-BA18-03EC2516CC7A}" type="presParOf" srcId="{BEA6EC6C-5315-8146-A1D2-5598B4B109AA}" destId="{D4CDC6C9-80CA-9448-955B-FEE8B2E7F38A}" srcOrd="0" destOrd="0" presId="urn:microsoft.com/office/officeart/2005/8/layout/lProcess3"/>
    <dgm:cxn modelId="{B667867C-A7C6-934C-9A8D-77D075BBEE45}" type="presParOf" srcId="{D4CDC6C9-80CA-9448-955B-FEE8B2E7F38A}" destId="{0AF0AB0C-1277-4943-B250-483E84B40387}" srcOrd="0" destOrd="0" presId="urn:microsoft.com/office/officeart/2005/8/layout/lProcess3"/>
    <dgm:cxn modelId="{2A6AE3F5-9D4D-4942-9D42-49153D298C5C}" type="presParOf" srcId="{D4CDC6C9-80CA-9448-955B-FEE8B2E7F38A}" destId="{97BD1043-2A14-B847-AE94-E38B8D413600}" srcOrd="1" destOrd="0" presId="urn:microsoft.com/office/officeart/2005/8/layout/lProcess3"/>
    <dgm:cxn modelId="{8D2BC03E-8809-9F49-B7C9-303B4DDEDFBF}" type="presParOf" srcId="{D4CDC6C9-80CA-9448-955B-FEE8B2E7F38A}" destId="{131AE6F6-6AB7-0C45-A89E-5633B0B66DA0}" srcOrd="2" destOrd="0" presId="urn:microsoft.com/office/officeart/2005/8/layout/lProcess3"/>
    <dgm:cxn modelId="{53CBE771-C54C-A94B-B399-9AF2068B58A4}" type="presParOf" srcId="{BEA6EC6C-5315-8146-A1D2-5598B4B109AA}" destId="{25AC9B58-931C-3C47-BD2A-6F2C6E6076C2}" srcOrd="1" destOrd="0" presId="urn:microsoft.com/office/officeart/2005/8/layout/lProcess3"/>
    <dgm:cxn modelId="{A40F4883-CB26-B340-9D6D-CEEEE20A3A18}" type="presParOf" srcId="{BEA6EC6C-5315-8146-A1D2-5598B4B109AA}" destId="{F13C756A-31A2-AF45-849D-0FBE76911D65}" srcOrd="2" destOrd="0" presId="urn:microsoft.com/office/officeart/2005/8/layout/lProcess3"/>
    <dgm:cxn modelId="{BD28625D-4E62-2E48-8365-1A76FB4D550A}" type="presParOf" srcId="{F13C756A-31A2-AF45-849D-0FBE76911D65}" destId="{503DEFF5-E9A1-0D40-9FC4-55A45CA7B57B}" srcOrd="0" destOrd="0" presId="urn:microsoft.com/office/officeart/2005/8/layout/lProcess3"/>
    <dgm:cxn modelId="{27468419-7B73-F348-8416-664AB317585B}" type="presParOf" srcId="{F13C756A-31A2-AF45-849D-0FBE76911D65}" destId="{36C0A80D-6811-EA47-849D-ABC479FADEF3}" srcOrd="1" destOrd="0" presId="urn:microsoft.com/office/officeart/2005/8/layout/lProcess3"/>
    <dgm:cxn modelId="{8F132148-6852-884D-92CC-4BBAA9587942}" type="presParOf" srcId="{F13C756A-31A2-AF45-849D-0FBE76911D65}" destId="{96E4619F-2334-AA4A-9CDB-7B7A2C4E08F5}" srcOrd="2" destOrd="0" presId="urn:microsoft.com/office/officeart/2005/8/layout/lProcess3"/>
    <dgm:cxn modelId="{28E8032F-04E2-994C-B0CF-FE1B78677B3F}" type="presParOf" srcId="{BEA6EC6C-5315-8146-A1D2-5598B4B109AA}" destId="{ED4019E1-01A7-7A4E-8B76-4C80E2018AAC}" srcOrd="3" destOrd="0" presId="urn:microsoft.com/office/officeart/2005/8/layout/lProcess3"/>
    <dgm:cxn modelId="{3B2E72F2-CF37-0042-A2D6-89AC3A67E112}" type="presParOf" srcId="{BEA6EC6C-5315-8146-A1D2-5598B4B109AA}" destId="{64B582CA-BF76-4145-8F4B-BA2D8650A32E}" srcOrd="4" destOrd="0" presId="urn:microsoft.com/office/officeart/2005/8/layout/lProcess3"/>
    <dgm:cxn modelId="{167F7A1F-A39A-B74E-8FA2-9811C948C2A8}" type="presParOf" srcId="{64B582CA-BF76-4145-8F4B-BA2D8650A32E}" destId="{72FF334B-CBE7-4446-BC3D-7D99ABBDAA0C}" srcOrd="0" destOrd="0" presId="urn:microsoft.com/office/officeart/2005/8/layout/lProcess3"/>
    <dgm:cxn modelId="{E296EB92-1978-864D-AA0B-8089417B51D7}" type="presParOf" srcId="{64B582CA-BF76-4145-8F4B-BA2D8650A32E}" destId="{A16599B1-8887-454E-BF9C-AD94E04ED63B}" srcOrd="1" destOrd="0" presId="urn:microsoft.com/office/officeart/2005/8/layout/lProcess3"/>
    <dgm:cxn modelId="{8A4E19B9-4CA6-F149-A776-541B0FB6CC8C}" type="presParOf" srcId="{64B582CA-BF76-4145-8F4B-BA2D8650A32E}" destId="{C9CDE331-6472-F74C-AEC5-9BCA57B1BC7F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98BA86-E73F-9F46-9B7A-D4AB9E4F4B97}">
      <dsp:nvSpPr>
        <dsp:cNvPr id="0" name=""/>
        <dsp:cNvSpPr/>
      </dsp:nvSpPr>
      <dsp:spPr>
        <a:xfrm>
          <a:off x="2324" y="262773"/>
          <a:ext cx="2831520" cy="113260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Collect Data</a:t>
          </a:r>
        </a:p>
      </dsp:txBody>
      <dsp:txXfrm>
        <a:off x="568628" y="262773"/>
        <a:ext cx="1698912" cy="1132608"/>
      </dsp:txXfrm>
    </dsp:sp>
    <dsp:sp modelId="{6F104116-18C0-7649-A0DA-1F8F305B7B41}">
      <dsp:nvSpPr>
        <dsp:cNvPr id="0" name=""/>
        <dsp:cNvSpPr/>
      </dsp:nvSpPr>
      <dsp:spPr>
        <a:xfrm>
          <a:off x="2550692" y="262773"/>
          <a:ext cx="2831520" cy="1132608"/>
        </a:xfrm>
        <a:prstGeom prst="chevron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Organize &amp; Clean Data</a:t>
          </a:r>
        </a:p>
      </dsp:txBody>
      <dsp:txXfrm>
        <a:off x="3116996" y="262773"/>
        <a:ext cx="1698912" cy="1132608"/>
      </dsp:txXfrm>
    </dsp:sp>
    <dsp:sp modelId="{557A29EA-B99C-9941-8DC8-1D4A33A9B797}">
      <dsp:nvSpPr>
        <dsp:cNvPr id="0" name=""/>
        <dsp:cNvSpPr/>
      </dsp:nvSpPr>
      <dsp:spPr>
        <a:xfrm>
          <a:off x="5099061" y="262773"/>
          <a:ext cx="2831520" cy="1132608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8014" tIns="36005" rIns="36005" bIns="3600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Analyze Data</a:t>
          </a:r>
        </a:p>
      </dsp:txBody>
      <dsp:txXfrm>
        <a:off x="5665365" y="262773"/>
        <a:ext cx="1698912" cy="11326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F0AB0C-1277-4943-B250-483E84B40387}">
      <dsp:nvSpPr>
        <dsp:cNvPr id="0" name=""/>
        <dsp:cNvSpPr/>
      </dsp:nvSpPr>
      <dsp:spPr>
        <a:xfrm>
          <a:off x="348086" y="1060"/>
          <a:ext cx="2585784" cy="1034313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Downloading to:</a:t>
          </a:r>
        </a:p>
      </dsp:txBody>
      <dsp:txXfrm>
        <a:off x="865243" y="1060"/>
        <a:ext cx="1551471" cy="1034313"/>
      </dsp:txXfrm>
    </dsp:sp>
    <dsp:sp modelId="{131AE6F6-6AB7-0C45-A89E-5633B0B66DA0}">
      <dsp:nvSpPr>
        <dsp:cNvPr id="0" name=""/>
        <dsp:cNvSpPr/>
      </dsp:nvSpPr>
      <dsp:spPr>
        <a:xfrm>
          <a:off x="2597719" y="88977"/>
          <a:ext cx="2146201" cy="858480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sourcedata</a:t>
          </a:r>
          <a:endParaRPr lang="en-US" sz="1900" kern="1200" dirty="0"/>
        </a:p>
      </dsp:txBody>
      <dsp:txXfrm>
        <a:off x="3026959" y="88977"/>
        <a:ext cx="1287721" cy="858480"/>
      </dsp:txXfrm>
    </dsp:sp>
    <dsp:sp modelId="{503DEFF5-E9A1-0D40-9FC4-55A45CA7B57B}">
      <dsp:nvSpPr>
        <dsp:cNvPr id="0" name=""/>
        <dsp:cNvSpPr/>
      </dsp:nvSpPr>
      <dsp:spPr>
        <a:xfrm>
          <a:off x="348086" y="1180178"/>
          <a:ext cx="2585784" cy="1034313"/>
        </a:xfrm>
        <a:prstGeom prst="chevron">
          <a:avLst/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Unpacking to:</a:t>
          </a:r>
        </a:p>
      </dsp:txBody>
      <dsp:txXfrm>
        <a:off x="865243" y="1180178"/>
        <a:ext cx="1551471" cy="1034313"/>
      </dsp:txXfrm>
    </dsp:sp>
    <dsp:sp modelId="{96E4619F-2334-AA4A-9CDB-7B7A2C4E08F5}">
      <dsp:nvSpPr>
        <dsp:cNvPr id="0" name=""/>
        <dsp:cNvSpPr/>
      </dsp:nvSpPr>
      <dsp:spPr>
        <a:xfrm>
          <a:off x="2597719" y="1268095"/>
          <a:ext cx="2146201" cy="858480"/>
        </a:xfrm>
        <a:prstGeom prst="chevron">
          <a:avLst/>
        </a:prstGeom>
        <a:solidFill>
          <a:schemeClr val="accent4">
            <a:tint val="40000"/>
            <a:alpha val="90000"/>
            <a:hueOff val="5430963"/>
            <a:satOff val="-25622"/>
            <a:lumOff val="-92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430963"/>
              <a:satOff val="-25622"/>
              <a:lumOff val="-9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Raw Data (Main BIDS Directory)</a:t>
          </a:r>
        </a:p>
      </dsp:txBody>
      <dsp:txXfrm>
        <a:off x="3026959" y="1268095"/>
        <a:ext cx="1287721" cy="858480"/>
      </dsp:txXfrm>
    </dsp:sp>
    <dsp:sp modelId="{72FF334B-CBE7-4446-BC3D-7D99ABBDAA0C}">
      <dsp:nvSpPr>
        <dsp:cNvPr id="0" name=""/>
        <dsp:cNvSpPr/>
      </dsp:nvSpPr>
      <dsp:spPr>
        <a:xfrm>
          <a:off x="348086" y="2359296"/>
          <a:ext cx="2585784" cy="1034313"/>
        </a:xfrm>
        <a:prstGeom prst="chevron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Preprocessing to:</a:t>
          </a:r>
        </a:p>
      </dsp:txBody>
      <dsp:txXfrm>
        <a:off x="865243" y="2359296"/>
        <a:ext cx="1551471" cy="1034313"/>
      </dsp:txXfrm>
    </dsp:sp>
    <dsp:sp modelId="{C9CDE331-6472-F74C-AEC5-9BCA57B1BC7F}">
      <dsp:nvSpPr>
        <dsp:cNvPr id="0" name=""/>
        <dsp:cNvSpPr/>
      </dsp:nvSpPr>
      <dsp:spPr>
        <a:xfrm>
          <a:off x="2597719" y="2447213"/>
          <a:ext cx="2146201" cy="858480"/>
        </a:xfrm>
        <a:prstGeom prst="chevron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derivatives</a:t>
          </a:r>
        </a:p>
      </dsp:txBody>
      <dsp:txXfrm>
        <a:off x="3026959" y="2447213"/>
        <a:ext cx="1287721" cy="858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42972-E0DE-424B-B1AF-7FE03358BF57}" type="datetimeFigureOut">
              <a:rPr lang="en-US" smtClean="0"/>
              <a:t>7/9/24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1787C-D421-3148-9E6C-C1F01B9C9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1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1787C-D421-3148-9E6C-C1F01B9C9D7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22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1787C-D421-3148-9E6C-C1F01B9C9D7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44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1787C-D421-3148-9E6C-C1F01B9C9D7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84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E1787C-D421-3148-9E6C-C1F01B9C9D7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55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2;g4dd4755f6e_5_0:notes">
            <a:extLst>
              <a:ext uri="{FF2B5EF4-FFF2-40B4-BE49-F238E27FC236}">
                <a16:creationId xmlns:a16="http://schemas.microsoft.com/office/drawing/2014/main" id="{D0615454-8E15-6F42-77F3-9CCA0DD23D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Google Shape;153;g4dd4755f6e_5_0:notes">
            <a:extLst>
              <a:ext uri="{FF2B5EF4-FFF2-40B4-BE49-F238E27FC236}">
                <a16:creationId xmlns:a16="http://schemas.microsoft.com/office/drawing/2014/main" id="{615FBC8F-93AB-27BD-9B7C-7DD4797A063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85800" y="4343400"/>
            <a:ext cx="5486400" cy="4114800"/>
          </a:xfrm>
        </p:spPr>
        <p:txBody>
          <a:bodyPr lIns="91421" tIns="91421" rIns="91421" bIns="91421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5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25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12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36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10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22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15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22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79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98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6FC1038F-6301-B015-1036-B57974D3A1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2" y="593364"/>
            <a:ext cx="8520599" cy="817501"/>
          </a:xfrm>
        </p:spPr>
        <p:txBody>
          <a:bodyPr lIns="91421" tIns="91421" rIns="91421" bIns="91421" anchor="t"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1D69A4EF-A23C-9C93-4482-1B708260E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2" y="1562134"/>
            <a:ext cx="8520599" cy="4529699"/>
          </a:xfrm>
        </p:spPr>
        <p:txBody>
          <a:bodyPr lIns="91421" tIns="91421" rIns="91421" bIns="91421"/>
          <a:lstStyle>
            <a:lvl1pPr>
              <a:spcBef>
                <a:spcPts val="0"/>
              </a:spcBef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EB309B2D-5688-3E06-31A3-239C873CACD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472490" y="6218240"/>
            <a:ext cx="548880" cy="523878"/>
          </a:xfrm>
        </p:spPr>
        <p:txBody>
          <a:bodyPr lIns="91421" tIns="91421" rIns="91421" bIns="91421"/>
          <a:lstStyle>
            <a:lvl1pPr>
              <a:defRPr lang="en-US"/>
            </a:lvl1pPr>
          </a:lstStyle>
          <a:p>
            <a:pPr lvl="0"/>
            <a:fld id="{5C43BA8A-28C0-4F4B-8553-A72E62EFCB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3741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E4AC9-9CA1-7346-9F79-F4E856EB1AEC}" type="datetimeFigureOut">
              <a:rPr lang="en-US" smtClean="0"/>
              <a:t>7/9/24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2E93A-DE28-F046-BC18-7234E099D1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86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cyril.pernet@ed.ac.uk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s://osf.io/84g7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yril.pernet@ed.ac.uk" TargetMode="Externa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cyril.pernet@ed.ac.uk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cyril.pernet@ed.ac.uk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cyril.pernet@ed.ac.uk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cyril.pernet@ed.ac.uk" TargetMode="Externa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cyril.pernet@ed.ac.uk" TargetMode="External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ids-specification.readthedocs.io/en/stable/glossary.html" TargetMode="Externa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bids-specification.readthedocs.io/en/stable/" TargetMode="Externa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mailto:cyril.pernet@ed.ac.u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AD82F-1268-E8D4-9719-D12C91F6A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750" y="320362"/>
            <a:ext cx="6540500" cy="1361792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BIDS Refresher</a:t>
            </a:r>
            <a:br>
              <a:rPr lang="en-US" sz="44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4400" b="1" dirty="0">
                <a:latin typeface="Courier New" panose="02070309020205020404" pitchFamily="49" charset="0"/>
                <a:cs typeface="Courier New" panose="02070309020205020404" pitchFamily="49" charset="0"/>
              </a:rPr>
              <a:t>July 9,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697628-AE41-E502-01F1-4FE786C1DD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8398" y="6227804"/>
            <a:ext cx="2163650" cy="405673"/>
          </a:xfrm>
        </p:spPr>
        <p:txBody>
          <a:bodyPr>
            <a:normAutofit lnSpcReduction="10000"/>
          </a:bodyPr>
          <a:lstStyle/>
          <a:p>
            <a:pPr algn="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Tom Morin</a:t>
            </a:r>
          </a:p>
        </p:txBody>
      </p:sp>
      <p:pic>
        <p:nvPicPr>
          <p:cNvPr id="1026" name="Picture 2" descr="xkcd: Home Organization">
            <a:extLst>
              <a:ext uri="{FF2B5EF4-FFF2-40B4-BE49-F238E27FC236}">
                <a16:creationId xmlns:a16="http://schemas.microsoft.com/office/drawing/2014/main" id="{8A51A18C-DCD6-93D7-0069-0DEF5550F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153" y="1975333"/>
            <a:ext cx="5066895" cy="379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xkcd: Documents">
            <a:extLst>
              <a:ext uri="{FF2B5EF4-FFF2-40B4-BE49-F238E27FC236}">
                <a16:creationId xmlns:a16="http://schemas.microsoft.com/office/drawing/2014/main" id="{E76E1B57-ABD9-38C2-0A52-6C4CE727B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06" y="1975333"/>
            <a:ext cx="2745832" cy="4562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354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6F8F0-024C-7A41-BA7B-F93D9CC5C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4217"/>
            <a:ext cx="7886700" cy="3952746"/>
          </a:xfrm>
        </p:spPr>
        <p:txBody>
          <a:bodyPr>
            <a:normAutofit fontScale="92500" lnSpcReduction="10000"/>
          </a:bodyPr>
          <a:lstStyle/>
          <a:p>
            <a:r>
              <a:rPr lang="en-US" b="0" i="0" dirty="0">
                <a:effectLst/>
                <a:highlight>
                  <a:srgbClr val="F7F9FA"/>
                </a:highlight>
              </a:rPr>
              <a:t>INCF </a:t>
            </a:r>
          </a:p>
          <a:p>
            <a:pPr lvl="1"/>
            <a:r>
              <a:rPr lang="en-US" dirty="0">
                <a:highlight>
                  <a:srgbClr val="F7F9FA"/>
                </a:highlight>
              </a:rPr>
              <a:t>V</a:t>
            </a:r>
            <a:r>
              <a:rPr lang="en-US" b="0" i="0" dirty="0">
                <a:effectLst/>
                <a:highlight>
                  <a:srgbClr val="F7F9FA"/>
                </a:highlight>
              </a:rPr>
              <a:t>etting, endorsing, and promoting community standards/best practices.</a:t>
            </a:r>
          </a:p>
          <a:p>
            <a:pPr lvl="1"/>
            <a:r>
              <a:rPr lang="en-US" b="0" i="0" dirty="0">
                <a:effectLst/>
                <a:highlight>
                  <a:srgbClr val="F7F9FA"/>
                </a:highlight>
              </a:rPr>
              <a:t>Develop and maintain standards, software tools, and infrastructure.</a:t>
            </a:r>
          </a:p>
          <a:p>
            <a:pPr lvl="1"/>
            <a:r>
              <a:rPr lang="en-US" b="0" i="0" dirty="0">
                <a:effectLst/>
                <a:highlight>
                  <a:srgbClr val="F7F9FA"/>
                </a:highlight>
              </a:rPr>
              <a:t>Provide educational courses and forums on FAIR data management methods &amp; supporting.</a:t>
            </a:r>
          </a:p>
          <a:p>
            <a:r>
              <a:rPr lang="en-US" dirty="0" err="1">
                <a:highlight>
                  <a:srgbClr val="F7F9FA"/>
                </a:highlight>
              </a:rPr>
              <a:t>ReproNim</a:t>
            </a:r>
            <a:endParaRPr lang="en-US" dirty="0">
              <a:highlight>
                <a:srgbClr val="F7F9FA"/>
              </a:highlight>
            </a:endParaRP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Data and software discovery.</a:t>
            </a: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Implementation of standardized description of data, results and workflows.</a:t>
            </a:r>
          </a:p>
          <a:p>
            <a:pPr lvl="1"/>
            <a:r>
              <a:rPr lang="en-US" b="0" i="0" dirty="0">
                <a:effectLst/>
                <a:highlight>
                  <a:srgbClr val="FFFFFF"/>
                </a:highlight>
              </a:rPr>
              <a:t>Provide training and education to the community.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C31A42-E66F-6AA6-D663-CEB88B3E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5977"/>
            <a:ext cx="5293418" cy="13611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60CE2B-EEEC-8F26-16D4-4DD1726AF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836" y="475977"/>
            <a:ext cx="3637164" cy="106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65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7C460-B1F7-6B85-9993-9D6F5E18C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 – week “summer school” at the University of Washington in Seattle.</a:t>
            </a:r>
          </a:p>
          <a:p>
            <a:r>
              <a:rPr lang="en-US" dirty="0"/>
              <a:t>Week 1: hands-on lectures and open Q&amp;A sessions</a:t>
            </a:r>
          </a:p>
          <a:p>
            <a:r>
              <a:rPr lang="en-US" dirty="0"/>
              <a:t>Week 2: participant-driven “hackathon”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F7AEB9-6DB4-CBEB-B7D4-B9922B80B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681037"/>
            <a:ext cx="4045819" cy="69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97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ome &amp; Life Organization With Marie Kondo of Netflix, Best-Selling Author">
            <a:extLst>
              <a:ext uri="{FF2B5EF4-FFF2-40B4-BE49-F238E27FC236}">
                <a16:creationId xmlns:a16="http://schemas.microsoft.com/office/drawing/2014/main" id="{1A9C8A6F-77F0-8C8B-59A4-E27CB14A1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681037"/>
            <a:ext cx="5002184" cy="3337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82AB3D2E-4E33-B677-9AC9-3C4BCEE71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527" y="4001294"/>
            <a:ext cx="5652975" cy="2454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915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1910-55CA-08FB-96D0-44EC515AE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Important?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D6C37-C156-1F09-433B-72E6EB1B3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4213806" cy="4351338"/>
          </a:xfrm>
        </p:spPr>
        <p:txBody>
          <a:bodyPr/>
          <a:lstStyle/>
          <a:p>
            <a:r>
              <a:rPr lang="en-US" dirty="0"/>
              <a:t>New NIH Data Sharing Mandate!</a:t>
            </a:r>
          </a:p>
          <a:p>
            <a:r>
              <a:rPr lang="en-US" dirty="0"/>
              <a:t>Make data more accessible</a:t>
            </a:r>
          </a:p>
          <a:p>
            <a:pPr lvl="1"/>
            <a:r>
              <a:rPr lang="en-US" dirty="0"/>
              <a:t>For yourself six months from now</a:t>
            </a:r>
          </a:p>
          <a:p>
            <a:pPr lvl="1"/>
            <a:r>
              <a:rPr lang="en-US" dirty="0"/>
              <a:t>For others in the lab (new students, collaborators)</a:t>
            </a:r>
          </a:p>
          <a:p>
            <a:pPr lvl="1"/>
            <a:r>
              <a:rPr lang="en-US" dirty="0"/>
              <a:t>For other researchers (data sharing)</a:t>
            </a:r>
          </a:p>
        </p:txBody>
      </p:sp>
      <p:pic>
        <p:nvPicPr>
          <p:cNvPr id="5122" name="Picture 2" descr="NIH Data Management &amp; Sharing Policy Drop-ins! - Research Data Services">
            <a:extLst>
              <a:ext uri="{FF2B5EF4-FFF2-40B4-BE49-F238E27FC236}">
                <a16:creationId xmlns:a16="http://schemas.microsoft.com/office/drawing/2014/main" id="{93DE8F32-D5F4-20C1-9142-78C167179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0337" y="1446773"/>
            <a:ext cx="2987093" cy="199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B589AB15-9EC2-1D73-20EE-32C70BCA544A}"/>
              </a:ext>
            </a:extLst>
          </p:cNvPr>
          <p:cNvSpPr txBox="1"/>
          <p:nvPr/>
        </p:nvSpPr>
        <p:spPr>
          <a:xfrm>
            <a:off x="5670295" y="5683632"/>
            <a:ext cx="220637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       @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CyrilRPernet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hlinkClick r:id="rId3"/>
              </a:rPr>
              <a:t>wamcyril@gmail.com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85D03-97B2-B072-BB53-63002F898E3E}"/>
              </a:ext>
            </a:extLst>
          </p:cNvPr>
          <p:cNvSpPr txBox="1"/>
          <p:nvPr/>
        </p:nvSpPr>
        <p:spPr>
          <a:xfrm>
            <a:off x="5670295" y="6329966"/>
            <a:ext cx="2206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https://osf.io/84g7a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4F6A7F-DCA5-D17E-DE95-30ECB3EF4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851" y="3630468"/>
            <a:ext cx="3504225" cy="186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7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14464-BED2-2187-453E-6FE6C30A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Focus: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E33EA31D-3C32-EF10-9551-893EF8094E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1376424"/>
              </p:ext>
            </p:extLst>
          </p:nvPr>
        </p:nvGraphicFramePr>
        <p:xfrm>
          <a:off x="582444" y="2054180"/>
          <a:ext cx="7932906" cy="16581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Oval 7">
            <a:extLst>
              <a:ext uri="{FF2B5EF4-FFF2-40B4-BE49-F238E27FC236}">
                <a16:creationId xmlns:a16="http://schemas.microsoft.com/office/drawing/2014/main" id="{E35C96EA-CB0F-BD9B-FCE1-7113B2FB28E3}"/>
              </a:ext>
            </a:extLst>
          </p:cNvPr>
          <p:cNvSpPr/>
          <p:nvPr/>
        </p:nvSpPr>
        <p:spPr>
          <a:xfrm>
            <a:off x="2975020" y="2054180"/>
            <a:ext cx="3026535" cy="1658155"/>
          </a:xfrm>
          <a:prstGeom prst="ellipse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9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A6C8B-F358-260E-C79F-A3D8F110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</a:rPr>
              <a:t>‘FAIR’ </a:t>
            </a:r>
            <a:r>
              <a:rPr lang="en-US" dirty="0"/>
              <a:t>Guiding Principles for </a:t>
            </a:r>
            <a:br>
              <a:rPr lang="en-US" dirty="0"/>
            </a:br>
            <a:r>
              <a:rPr lang="en-US" dirty="0"/>
              <a:t>Data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11A8B-A477-6695-ADA5-ED2282949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15165"/>
            <a:ext cx="7886700" cy="396179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F</a:t>
            </a:r>
            <a:r>
              <a:rPr lang="en-US" dirty="0"/>
              <a:t>indability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A</a:t>
            </a:r>
            <a:r>
              <a:rPr lang="en-US" dirty="0"/>
              <a:t>ccessibility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I</a:t>
            </a:r>
            <a:r>
              <a:rPr lang="en-US" dirty="0"/>
              <a:t>nteroperability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50"/>
                </a:solidFill>
              </a:rPr>
              <a:t>R</a:t>
            </a:r>
            <a:r>
              <a:rPr lang="en-US" dirty="0"/>
              <a:t>euse of Digital Assets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C2DA6-4AEA-B4FC-B9B0-7900AC7EDBB7}"/>
              </a:ext>
            </a:extLst>
          </p:cNvPr>
          <p:cNvSpPr txBox="1"/>
          <p:nvPr/>
        </p:nvSpPr>
        <p:spPr>
          <a:xfrm>
            <a:off x="5275633" y="6488668"/>
            <a:ext cx="3868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www.go-fair.org</a:t>
            </a:r>
            <a:r>
              <a:rPr lang="en-US" dirty="0"/>
              <a:t>/fair-principles/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229F65-EF77-1499-EB9E-9F8FA533A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144" y="4118373"/>
            <a:ext cx="3400023" cy="147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OpenNeuro - Wikipedia">
            <a:extLst>
              <a:ext uri="{FF2B5EF4-FFF2-40B4-BE49-F238E27FC236}">
                <a16:creationId xmlns:a16="http://schemas.microsoft.com/office/drawing/2014/main" id="{FEE354AD-088A-AEF6-2B5B-8DBECBD6F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633" y="1560252"/>
            <a:ext cx="2562171" cy="1975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22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7C0924C-A513-4B74-95D1-F422E6951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0265" y="2368157"/>
            <a:ext cx="5893594" cy="314206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Shape 442">
            <a:extLst>
              <a:ext uri="{FF2B5EF4-FFF2-40B4-BE49-F238E27FC236}">
                <a16:creationId xmlns:a16="http://schemas.microsoft.com/office/drawing/2014/main" id="{B1A95F35-2830-C8C5-0E75-954B6EB4572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sz="2057" b="1">
                <a:solidFill>
                  <a:srgbClr val="FF0000"/>
                </a:solidFill>
                <a:latin typeface="VerbCond Extralight" pitchFamily="50"/>
              </a:rPr>
              <a:t>CREDITS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A0244EC7-7372-3D8C-0545-6DB674673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968730" y="1378746"/>
            <a:ext cx="1571627" cy="879875"/>
          </a:xfrm>
        </p:spPr>
      </p:pic>
      <p:pic>
        <p:nvPicPr>
          <p:cNvPr id="5" name="2015-02-13 13.48.03.jpg">
            <a:extLst>
              <a:ext uri="{FF2B5EF4-FFF2-40B4-BE49-F238E27FC236}">
                <a16:creationId xmlns:a16="http://schemas.microsoft.com/office/drawing/2014/main" id="{A03D609F-C2D3-B212-19B4-ECFC97F8B9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61573" y="2786062"/>
            <a:ext cx="1815704" cy="232410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Shape 448">
            <a:extLst>
              <a:ext uri="{FF2B5EF4-FFF2-40B4-BE49-F238E27FC236}">
                <a16:creationId xmlns:a16="http://schemas.microsoft.com/office/drawing/2014/main" id="{97CF4605-5D54-A886-947F-6F94D6EF94DC}"/>
              </a:ext>
            </a:extLst>
          </p:cNvPr>
          <p:cNvSpPr/>
          <p:nvPr/>
        </p:nvSpPr>
        <p:spPr>
          <a:xfrm>
            <a:off x="6909904" y="5211599"/>
            <a:ext cx="1905971" cy="19479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ctr" anchorCtr="1" compatLnSpc="1">
            <a:spAutoFit/>
          </a:bodyPr>
          <a:lstStyle/>
          <a:p>
            <a:pPr algn="ctr" defTabSz="43815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266" kern="0">
                <a:solidFill>
                  <a:srgbClr val="000000"/>
                </a:solidFill>
                <a:latin typeface="VerbCond Extralight" pitchFamily="50"/>
                <a:ea typeface="Myriad Pro"/>
                <a:cs typeface="Myriad Pro"/>
              </a:rPr>
              <a:t>The Poldrack Lab @ Stanford</a:t>
            </a:r>
          </a:p>
        </p:txBody>
      </p:sp>
      <p:sp>
        <p:nvSpPr>
          <p:cNvPr id="7" name="Shape 448">
            <a:extLst>
              <a:ext uri="{FF2B5EF4-FFF2-40B4-BE49-F238E27FC236}">
                <a16:creationId xmlns:a16="http://schemas.microsoft.com/office/drawing/2014/main" id="{30C0545B-1B37-EF7D-B76F-EACF9C70EFDC}"/>
              </a:ext>
            </a:extLst>
          </p:cNvPr>
          <p:cNvSpPr/>
          <p:nvPr/>
        </p:nvSpPr>
        <p:spPr>
          <a:xfrm>
            <a:off x="6966667" y="2295755"/>
            <a:ext cx="1575752" cy="194797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0" rIns="0" bIns="0" anchor="ctr" anchorCtr="1" compatLnSpc="1">
            <a:spAutoFit/>
          </a:bodyPr>
          <a:lstStyle/>
          <a:p>
            <a:pPr algn="ctr" defTabSz="438151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l-PL" sz="1266" kern="0">
                <a:solidFill>
                  <a:srgbClr val="000000"/>
                </a:solidFill>
                <a:latin typeface="VerbCond Extralight" pitchFamily="50"/>
                <a:ea typeface="Myriad Pro"/>
                <a:cs typeface="Myriad Pro"/>
              </a:rPr>
              <a:t>Data Sharing Task Force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E485339-7AA8-9992-8B62-DDB853555D3E}"/>
              </a:ext>
            </a:extLst>
          </p:cNvPr>
          <p:cNvSpPr txBox="1"/>
          <p:nvPr/>
        </p:nvSpPr>
        <p:spPr>
          <a:xfrm>
            <a:off x="6937626" y="6211666"/>
            <a:ext cx="220637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       @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CyrilRPernet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hlinkClick r:id="rId5"/>
              </a:rPr>
              <a:t>wamcyril@gmail.com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8E3587F-7C82-A77E-3C9E-B77BC7D2D99D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EC6BD40-7BDE-B05F-49D3-8F83D3F14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99" y="1153338"/>
            <a:ext cx="8311594" cy="455133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335EE31C-24DA-7446-1525-CD4CE237B739}"/>
              </a:ext>
            </a:extLst>
          </p:cNvPr>
          <p:cNvSpPr txBox="1"/>
          <p:nvPr/>
        </p:nvSpPr>
        <p:spPr>
          <a:xfrm>
            <a:off x="6937626" y="6211666"/>
            <a:ext cx="220637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       @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CyrilRPernet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hlinkClick r:id="rId3"/>
              </a:rPr>
              <a:t>wamcyril@gmail.com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EB060C5-C697-64E9-7AC4-066ACDA07D49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24DF62A4-276C-FC77-E2CF-D2267869F0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01" t="21885" r="5874" b="6445"/>
          <a:stretch>
            <a:fillRect/>
          </a:stretch>
        </p:blipFill>
        <p:spPr>
          <a:xfrm>
            <a:off x="408744" y="1185240"/>
            <a:ext cx="8311594" cy="439060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6549E610-6664-7D1B-38CF-5884EFA120AD}"/>
              </a:ext>
            </a:extLst>
          </p:cNvPr>
          <p:cNvSpPr txBox="1"/>
          <p:nvPr/>
        </p:nvSpPr>
        <p:spPr>
          <a:xfrm>
            <a:off x="6937626" y="6211666"/>
            <a:ext cx="220637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       @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CyrilRPernet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hlinkClick r:id="rId3"/>
              </a:rPr>
              <a:t>wamcyril@gmail.com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42D3-DDBE-04A1-1326-5FAA71C5142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89420" y="2643190"/>
            <a:ext cx="6858000" cy="1790699"/>
          </a:xfrm>
        </p:spPr>
        <p:txBody>
          <a:bodyPr/>
          <a:lstStyle/>
          <a:p>
            <a:pPr lvl="0"/>
            <a:r>
              <a:rPr lang="en-GB" sz="4050" b="1" dirty="0">
                <a:solidFill>
                  <a:srgbClr val="FF0000"/>
                </a:solidFill>
                <a:latin typeface="Calibri Light" pitchFamily="34"/>
              </a:rPr>
              <a:t>The BIDS goal is to make more data accessible to more researchers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8EF41C9E-4A36-8338-9098-35A8836579B0}"/>
              </a:ext>
            </a:extLst>
          </p:cNvPr>
          <p:cNvSpPr txBox="1"/>
          <p:nvPr/>
        </p:nvSpPr>
        <p:spPr>
          <a:xfrm>
            <a:off x="6937626" y="6211666"/>
            <a:ext cx="220637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       @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CyrilRPernet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hlinkClick r:id="rId2"/>
              </a:rPr>
              <a:t>wamcyril@gmail.com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52D68-9E61-B763-4A32-38EFD4E2CDD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43002" y="2640803"/>
            <a:ext cx="6858000" cy="966785"/>
          </a:xfrm>
        </p:spPr>
        <p:txBody>
          <a:bodyPr>
            <a:normAutofit fontScale="90000"/>
          </a:bodyPr>
          <a:lstStyle/>
          <a:p>
            <a:pPr lvl="0"/>
            <a:r>
              <a:rPr lang="en-GB" b="1">
                <a:solidFill>
                  <a:srgbClr val="FF0000"/>
                </a:solidFill>
                <a:latin typeface="Calibri Light" pitchFamily="34"/>
              </a:rPr>
              <a:t>BIDS data structure basics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02B1269C-0F00-F147-43A2-CCFEADBDC74B}"/>
              </a:ext>
            </a:extLst>
          </p:cNvPr>
          <p:cNvSpPr txBox="1"/>
          <p:nvPr/>
        </p:nvSpPr>
        <p:spPr>
          <a:xfrm>
            <a:off x="6937626" y="6211666"/>
            <a:ext cx="220637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</a:rPr>
              <a:t>           @</a:t>
            </a:r>
            <a:r>
              <a:rPr lang="en-GB" sz="1800" b="0" i="0" u="none" strike="noStrike" kern="1200" cap="none" spc="0" baseline="0" dirty="0" err="1">
                <a:solidFill>
                  <a:srgbClr val="000000"/>
                </a:solidFill>
                <a:uFillTx/>
                <a:latin typeface="Calibri"/>
              </a:rPr>
              <a:t>CyrilRPernet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hlinkClick r:id="rId2"/>
              </a:rPr>
              <a:t>wamcyril@gmail.com</a:t>
            </a:r>
            <a:endParaRPr lang="en-GB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C0DE-7D0B-492B-F996-52C36ABAF2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2" y="982889"/>
            <a:ext cx="7886700" cy="994169"/>
          </a:xfrm>
        </p:spPr>
        <p:txBody>
          <a:bodyPr/>
          <a:lstStyle/>
          <a:p>
            <a:pPr lvl="0"/>
            <a:r>
              <a:rPr lang="en-US" b="1">
                <a:solidFill>
                  <a:srgbClr val="FF0000"/>
                </a:solidFill>
              </a:rPr>
              <a:t>Essence of BIDS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CC4AE-25FC-A249-E5AB-872E7E29D21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5325" y="1935176"/>
            <a:ext cx="8215163" cy="1638108"/>
          </a:xfrm>
        </p:spPr>
        <p:txBody>
          <a:bodyPr/>
          <a:lstStyle/>
          <a:p>
            <a:pPr lvl="0"/>
            <a:r>
              <a:rPr lang="en-US"/>
              <a:t>Directory hierarchy and file naming system</a:t>
            </a:r>
          </a:p>
          <a:p>
            <a:pPr lvl="1"/>
            <a:r>
              <a:rPr lang="en-US"/>
              <a:t>Conveys essential meta-data in filenames alone</a:t>
            </a:r>
          </a:p>
          <a:p>
            <a:pPr lvl="0"/>
            <a:r>
              <a:rPr lang="en-US"/>
              <a:t>Remaining meta-data in “sidecar”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43B0DB-E211-1C69-148F-B0F55D80E3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2687"/>
          <a:stretch>
            <a:fillRect/>
          </a:stretch>
        </p:blipFill>
        <p:spPr>
          <a:xfrm>
            <a:off x="505325" y="3398656"/>
            <a:ext cx="6858000" cy="298763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8">
            <a:extLst>
              <a:ext uri="{FF2B5EF4-FFF2-40B4-BE49-F238E27FC236}">
                <a16:creationId xmlns:a16="http://schemas.microsoft.com/office/drawing/2014/main" id="{81997397-1EF8-F9F8-448C-B8C4D78794F9}"/>
              </a:ext>
            </a:extLst>
          </p:cNvPr>
          <p:cNvSpPr txBox="1"/>
          <p:nvPr/>
        </p:nvSpPr>
        <p:spPr>
          <a:xfrm>
            <a:off x="6937626" y="6211666"/>
            <a:ext cx="220637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          @CyrilRPernet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hlinkClick r:id="rId3"/>
              </a:rPr>
              <a:t>wamcyril@gmail.com</a:t>
            </a: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BABS in BIDS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1049634" y="1203680"/>
            <a:ext cx="1513262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D12420-3A32-58A0-0A59-15F6C0F3B99F}"/>
              </a:ext>
            </a:extLst>
          </p:cNvPr>
          <p:cNvSpPr txBox="1"/>
          <p:nvPr/>
        </p:nvSpPr>
        <p:spPr>
          <a:xfrm>
            <a:off x="5711377" y="1155937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/vast/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berrylab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/BABS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Metadata as text files (</a:t>
            </a:r>
            <a:r>
              <a:rPr lang="en-US" b="1" dirty="0" err="1">
                <a:latin typeface="VerbCond Extralight"/>
              </a:rPr>
              <a:t>tsv</a:t>
            </a:r>
            <a:r>
              <a:rPr lang="en-US" b="1" dirty="0">
                <a:latin typeface="VerbCond Extralight"/>
              </a:rPr>
              <a:t>, </a:t>
            </a:r>
            <a:r>
              <a:rPr lang="en-US" b="1" dirty="0" err="1">
                <a:latin typeface="VerbCond Extralight"/>
              </a:rPr>
              <a:t>json</a:t>
            </a:r>
            <a:r>
              <a:rPr lang="en-US" b="1" dirty="0">
                <a:latin typeface="VerbCond Extralight"/>
              </a:rPr>
              <a:t>)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69DDD6-03E2-3DFF-403C-E0439FAF91FC}"/>
              </a:ext>
            </a:extLst>
          </p:cNvPr>
          <p:cNvSpPr txBox="1"/>
          <p:nvPr/>
        </p:nvSpPr>
        <p:spPr>
          <a:xfrm>
            <a:off x="3193961" y="1558345"/>
            <a:ext cx="5950039" cy="482278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34290" rIns="0" bIns="34290" anchor="ctr" anchorCtr="0" compatLnSpc="1">
            <a:noAutofit/>
          </a:bodyPr>
          <a:lstStyle/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{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"Name": ”Brandeis Aging Brain Study”,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BIDSVersion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": ”1.2.1",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"License": "",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"Authors": 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“Anne Berry”,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“Katherine O’Malley”</a:t>
            </a:r>
          </a:p>
          <a:p>
            <a:pPr lvl="2" defTabSz="685800">
              <a:lnSpc>
                <a:spcPct val="90000"/>
              </a:lnSpc>
              <a:buClr>
                <a:srgbClr val="5B9BD5"/>
              </a:buClr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],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"Acknowledgements": ”Special thanks…”,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HowToAcknowledge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": " ",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"Funding": 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“National Institute of Aging R00…”,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“National Institute of Aging R01…”,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],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ReferencesAndLinks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": "",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"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SourceDatasetsURLs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": ”/vast/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berrylab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/BABS”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}</a:t>
            </a:r>
            <a:endParaRPr lang="en-US" sz="1600" dirty="0">
              <a:solidFill>
                <a:srgbClr val="404040"/>
              </a:solidFill>
              <a:latin typeface="Calibri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A7938-FF5B-BF9D-4511-1F2D82B43E47}"/>
              </a:ext>
            </a:extLst>
          </p:cNvPr>
          <p:cNvSpPr txBox="1"/>
          <p:nvPr/>
        </p:nvSpPr>
        <p:spPr>
          <a:xfrm>
            <a:off x="5650736" y="118901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dataset_description.json</a:t>
            </a:r>
            <a:endParaRPr lang="en-US" dirty="0">
              <a:solidFill>
                <a:srgbClr val="FF0000"/>
              </a:solidFill>
              <a:latin typeface="Courier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1910389" y="5035230"/>
            <a:ext cx="1283572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9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Metadata as text files (</a:t>
            </a:r>
            <a:r>
              <a:rPr lang="en-US" b="1" dirty="0" err="1">
                <a:latin typeface="VerbCond Extralight"/>
              </a:rPr>
              <a:t>tsv</a:t>
            </a:r>
            <a:r>
              <a:rPr lang="en-US" b="1" dirty="0">
                <a:latin typeface="VerbCond Extralight"/>
              </a:rPr>
              <a:t>, </a:t>
            </a:r>
            <a:r>
              <a:rPr lang="en-US" b="1" dirty="0" err="1">
                <a:latin typeface="VerbCond Extralight"/>
              </a:rPr>
              <a:t>json</a:t>
            </a:r>
            <a:r>
              <a:rPr lang="en-US" b="1" dirty="0">
                <a:latin typeface="VerbCond Extralight"/>
              </a:rPr>
              <a:t>)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69DDD6-03E2-3DFF-403C-E0439FAF91FC}"/>
              </a:ext>
            </a:extLst>
          </p:cNvPr>
          <p:cNvSpPr txBox="1"/>
          <p:nvPr/>
        </p:nvSpPr>
        <p:spPr>
          <a:xfrm>
            <a:off x="3193961" y="1558345"/>
            <a:ext cx="5950039" cy="482278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34290" rIns="0" bIns="34290" anchor="ctr" anchorCtr="0" compatLnSpc="1">
            <a:noAutofit/>
          </a:bodyPr>
          <a:lstStyle/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{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"Name"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”Brandeis Aging Brain Study”,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BIDSVersion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”1.2.1",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"License"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"",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"Authors"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“Anne Berry”,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“Katherine O’Malley”</a:t>
            </a:r>
          </a:p>
          <a:p>
            <a:pPr lvl="2" defTabSz="685800">
              <a:lnSpc>
                <a:spcPct val="90000"/>
              </a:lnSpc>
              <a:buClr>
                <a:srgbClr val="5B9BD5"/>
              </a:buClr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],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"Acknowledgements"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”Special thanks…”,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HowToAcknowledge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" ",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"Funding"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“National Institute of Aging R00…”,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“National Institute of Aging R01…”,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],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ReferencesAndLinks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"",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SourceDatasetsURLs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”/vast/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berrylab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/BABS”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}</a:t>
            </a:r>
            <a:endParaRPr lang="en-US" sz="1600" dirty="0">
              <a:solidFill>
                <a:srgbClr val="404040"/>
              </a:solidFill>
              <a:latin typeface="Calibri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A7938-FF5B-BF9D-4511-1F2D82B43E47}"/>
              </a:ext>
            </a:extLst>
          </p:cNvPr>
          <p:cNvSpPr txBox="1"/>
          <p:nvPr/>
        </p:nvSpPr>
        <p:spPr>
          <a:xfrm>
            <a:off x="5650736" y="118901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dataset_description.json</a:t>
            </a:r>
            <a:endParaRPr lang="en-US" dirty="0">
              <a:solidFill>
                <a:srgbClr val="FF0000"/>
              </a:solidFill>
              <a:latin typeface="Courier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1910389" y="5035230"/>
            <a:ext cx="1283572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01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Metadata as text files (</a:t>
            </a:r>
            <a:r>
              <a:rPr lang="en-US" b="1" dirty="0" err="1">
                <a:latin typeface="VerbCond Extralight"/>
              </a:rPr>
              <a:t>tsv</a:t>
            </a:r>
            <a:r>
              <a:rPr lang="en-US" b="1" dirty="0">
                <a:latin typeface="VerbCond Extralight"/>
              </a:rPr>
              <a:t>, </a:t>
            </a:r>
            <a:r>
              <a:rPr lang="en-US" b="1" dirty="0" err="1">
                <a:latin typeface="VerbCond Extralight"/>
              </a:rPr>
              <a:t>json</a:t>
            </a:r>
            <a:r>
              <a:rPr lang="en-US" b="1" dirty="0">
                <a:latin typeface="VerbCond Extralight"/>
              </a:rPr>
              <a:t>)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69DDD6-03E2-3DFF-403C-E0439FAF91FC}"/>
              </a:ext>
            </a:extLst>
          </p:cNvPr>
          <p:cNvSpPr txBox="1"/>
          <p:nvPr/>
        </p:nvSpPr>
        <p:spPr>
          <a:xfrm>
            <a:off x="3193961" y="1558345"/>
            <a:ext cx="5950039" cy="482278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34290" rIns="0" bIns="34290" anchor="ctr" anchorCtr="0" compatLnSpc="1">
            <a:noAutofit/>
          </a:bodyPr>
          <a:lstStyle/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{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"Name"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”Brandeis Aging Brain Study”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BIDSVersion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”1.2.1"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"License"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"Authors"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“Anne Berry”,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“Katherine O’Malley”</a:t>
            </a:r>
          </a:p>
          <a:p>
            <a:pPr lvl="2" defTabSz="685800">
              <a:lnSpc>
                <a:spcPct val="90000"/>
              </a:lnSpc>
              <a:buClr>
                <a:srgbClr val="5B9BD5"/>
              </a:buClr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]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"Acknowledgements"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”Special thanks…”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HowToAcknowledge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"Funding"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“National Institute of Aging R00…”,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“National Institute of Aging R01…”,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]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ReferencesAndLinks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SourceDatasetsURLs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”/vast/</a:t>
            </a:r>
            <a:r>
              <a:rPr lang="en-GB" sz="1600" dirty="0" err="1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berrylab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/BABS”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}</a:t>
            </a:r>
            <a:endParaRPr lang="en-US" sz="1600" dirty="0">
              <a:solidFill>
                <a:srgbClr val="404040"/>
              </a:solidFill>
              <a:latin typeface="Calibri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A7938-FF5B-BF9D-4511-1F2D82B43E47}"/>
              </a:ext>
            </a:extLst>
          </p:cNvPr>
          <p:cNvSpPr txBox="1"/>
          <p:nvPr/>
        </p:nvSpPr>
        <p:spPr>
          <a:xfrm>
            <a:off x="5650736" y="118901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dataset_description.json</a:t>
            </a:r>
            <a:endParaRPr lang="en-US" dirty="0">
              <a:solidFill>
                <a:srgbClr val="FF0000"/>
              </a:solidFill>
              <a:latin typeface="Courier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1910389" y="5035230"/>
            <a:ext cx="1283572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75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Metadata as text files (</a:t>
            </a:r>
            <a:r>
              <a:rPr lang="en-US" b="1" dirty="0" err="1">
                <a:latin typeface="VerbCond Extralight"/>
              </a:rPr>
              <a:t>tsv</a:t>
            </a:r>
            <a:r>
              <a:rPr lang="en-US" b="1" dirty="0">
                <a:latin typeface="VerbCond Extralight"/>
              </a:rPr>
              <a:t>, </a:t>
            </a:r>
            <a:r>
              <a:rPr lang="en-US" b="1" dirty="0" err="1">
                <a:latin typeface="VerbCond Extralight"/>
              </a:rPr>
              <a:t>json</a:t>
            </a:r>
            <a:r>
              <a:rPr lang="en-US" b="1" dirty="0">
                <a:latin typeface="VerbCond Extralight"/>
              </a:rPr>
              <a:t>)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69DDD6-03E2-3DFF-403C-E0439FAF91FC}"/>
              </a:ext>
            </a:extLst>
          </p:cNvPr>
          <p:cNvSpPr txBox="1"/>
          <p:nvPr/>
        </p:nvSpPr>
        <p:spPr>
          <a:xfrm>
            <a:off x="3193961" y="1558345"/>
            <a:ext cx="5950039" cy="482278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34290" rIns="0" bIns="34290" anchor="ctr" anchorCtr="0" compatLnSpc="1">
            <a:noAutofit/>
          </a:bodyPr>
          <a:lstStyle/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{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"Name"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”Brandeis Aging Brain Study”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BIDSVersion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”1.2.1"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"License"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"Authors"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“Anne Berry”,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“Katherine O’Malley”</a:t>
            </a:r>
          </a:p>
          <a:p>
            <a:pPr lvl="2" defTabSz="685800">
              <a:lnSpc>
                <a:spcPct val="90000"/>
              </a:lnSpc>
              <a:buClr>
                <a:srgbClr val="5B9BD5"/>
              </a:buClr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]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"Acknowledgements"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”Special thanks…”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HowToAcknowledge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"Funding"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“National Institute of Aging R00…”,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“National Institute of Aging R01…”,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]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ReferencesAndLinks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SourceDatasetsURLs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”/vast/</a:t>
            </a:r>
            <a:r>
              <a:rPr lang="en-GB" sz="1600" dirty="0" err="1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berrylab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/BABS”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}</a:t>
            </a:r>
            <a:endParaRPr lang="en-US" sz="1600" dirty="0">
              <a:solidFill>
                <a:srgbClr val="404040"/>
              </a:solidFill>
              <a:latin typeface="Calibri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A7938-FF5B-BF9D-4511-1F2D82B43E47}"/>
              </a:ext>
            </a:extLst>
          </p:cNvPr>
          <p:cNvSpPr txBox="1"/>
          <p:nvPr/>
        </p:nvSpPr>
        <p:spPr>
          <a:xfrm>
            <a:off x="5650736" y="118901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dataset_description.json</a:t>
            </a:r>
            <a:endParaRPr lang="en-US" dirty="0">
              <a:solidFill>
                <a:srgbClr val="FF0000"/>
              </a:solidFill>
              <a:latin typeface="Courier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1910389" y="5035230"/>
            <a:ext cx="1283572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243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Metadata as text files (</a:t>
            </a:r>
            <a:r>
              <a:rPr lang="en-US" b="1" dirty="0" err="1">
                <a:latin typeface="VerbCond Extralight"/>
              </a:rPr>
              <a:t>tsv</a:t>
            </a:r>
            <a:r>
              <a:rPr lang="en-US" b="1" dirty="0">
                <a:latin typeface="VerbCond Extralight"/>
              </a:rPr>
              <a:t>, </a:t>
            </a:r>
            <a:r>
              <a:rPr lang="en-US" b="1" dirty="0" err="1">
                <a:latin typeface="VerbCond Extralight"/>
              </a:rPr>
              <a:t>json</a:t>
            </a:r>
            <a:r>
              <a:rPr lang="en-US" b="1" dirty="0">
                <a:latin typeface="VerbCond Extralight"/>
              </a:rPr>
              <a:t>)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69DDD6-03E2-3DFF-403C-E0439FAF91FC}"/>
              </a:ext>
            </a:extLst>
          </p:cNvPr>
          <p:cNvSpPr txBox="1"/>
          <p:nvPr/>
        </p:nvSpPr>
        <p:spPr>
          <a:xfrm>
            <a:off x="3193961" y="1558345"/>
            <a:ext cx="5950039" cy="4822788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34290" rIns="0" bIns="34290" anchor="ctr" anchorCtr="0" compatLnSpc="1">
            <a:noAutofit/>
          </a:bodyPr>
          <a:lstStyle/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{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"Name"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”Brandeis Aging Brain Study”</a:t>
            </a: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BIDSVersion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: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”1.2.1"</a:t>
            </a: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"License"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"Authors"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“Anne Berry”,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“Katherine O’Malley”</a:t>
            </a:r>
          </a:p>
          <a:p>
            <a:pPr lvl="2" defTabSz="685800">
              <a:lnSpc>
                <a:spcPct val="90000"/>
              </a:lnSpc>
              <a:buClr>
                <a:srgbClr val="5B9BD5"/>
              </a:buClr>
              <a:buSzPct val="100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]</a:t>
            </a: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"Acknowledgements"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”Special thanks…”</a:t>
            </a: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HowToAcknowledge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"Funding"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[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“National Institute of Aging R00…”,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“National Institute of Aging R01…”,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]</a:t>
            </a: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ReferencesAndLinks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”n/a"</a:t>
            </a: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,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 err="1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SourceDatasetsURLs</a:t>
            </a:r>
            <a:r>
              <a:rPr lang="en-GB" sz="1600" dirty="0">
                <a:solidFill>
                  <a:srgbClr val="000000"/>
                </a:solidFill>
                <a:highlight>
                  <a:srgbClr val="FFFF00"/>
                </a:highlight>
                <a:latin typeface="Courier New" pitchFamily="49"/>
              </a:rPr>
              <a:t>"</a:t>
            </a:r>
            <a:r>
              <a:rPr lang="en-GB" sz="1600" dirty="0">
                <a:solidFill>
                  <a:srgbClr val="000000"/>
                </a:solidFill>
                <a:highlight>
                  <a:srgbClr val="00FF00"/>
                </a:highlight>
                <a:latin typeface="Courier New" pitchFamily="49"/>
              </a:rPr>
              <a:t>: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 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”/vast/</a:t>
            </a:r>
            <a:r>
              <a:rPr lang="en-GB" sz="1600" dirty="0" err="1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berrylab</a:t>
            </a:r>
            <a:r>
              <a:rPr lang="en-GB" sz="1600" dirty="0">
                <a:solidFill>
                  <a:srgbClr val="000000"/>
                </a:solidFill>
                <a:highlight>
                  <a:srgbClr val="00FFFF"/>
                </a:highlight>
                <a:latin typeface="Courier New" pitchFamily="49"/>
              </a:rPr>
              <a:t>/BABS”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highlight>
                  <a:srgbClr val="FF00FF"/>
                </a:highlight>
                <a:latin typeface="Courier New" pitchFamily="49"/>
              </a:rPr>
              <a:t>}</a:t>
            </a:r>
            <a:endParaRPr lang="en-US" sz="1600" dirty="0">
              <a:solidFill>
                <a:srgbClr val="404040"/>
              </a:solidFill>
              <a:highlight>
                <a:srgbClr val="FF00FF"/>
              </a:highlight>
              <a:latin typeface="Calibri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A7938-FF5B-BF9D-4511-1F2D82B43E47}"/>
              </a:ext>
            </a:extLst>
          </p:cNvPr>
          <p:cNvSpPr txBox="1"/>
          <p:nvPr/>
        </p:nvSpPr>
        <p:spPr>
          <a:xfrm>
            <a:off x="5650736" y="1189013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dataset_description.json</a:t>
            </a:r>
            <a:endParaRPr lang="en-US" dirty="0">
              <a:solidFill>
                <a:srgbClr val="FF0000"/>
              </a:solidFill>
              <a:latin typeface="Courier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1910389" y="5035230"/>
            <a:ext cx="1283572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647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Metadata as text files (</a:t>
            </a:r>
            <a:r>
              <a:rPr lang="en-US" b="1" dirty="0" err="1">
                <a:latin typeface="VerbCond Extralight"/>
              </a:rPr>
              <a:t>tsv</a:t>
            </a:r>
            <a:r>
              <a:rPr lang="en-US" b="1" dirty="0">
                <a:latin typeface="VerbCond Extralight"/>
              </a:rPr>
              <a:t>, </a:t>
            </a:r>
            <a:r>
              <a:rPr lang="en-US" b="1" dirty="0" err="1">
                <a:latin typeface="VerbCond Extralight"/>
              </a:rPr>
              <a:t>json</a:t>
            </a:r>
            <a:r>
              <a:rPr lang="en-US" b="1" dirty="0">
                <a:latin typeface="VerbCond Extralight"/>
              </a:rPr>
              <a:t>)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1910389" y="5512238"/>
            <a:ext cx="1283572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57FDECE-C838-F29E-E9A2-DD8C9510D3BD}"/>
              </a:ext>
            </a:extLst>
          </p:cNvPr>
          <p:cNvSpPr txBox="1"/>
          <p:nvPr/>
        </p:nvSpPr>
        <p:spPr>
          <a:xfrm>
            <a:off x="3193961" y="1506828"/>
            <a:ext cx="5950039" cy="224092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34290" rIns="0" bIns="34290" anchor="ctr" anchorCtr="0" compatLnSpc="1">
            <a:noAutofit/>
          </a:bodyPr>
          <a:lstStyle/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participant_id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YOB	sex	race ethnicity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BABS009	1943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BABS017	1951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BABS038	1952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BABS040	1949	F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BABS043	1951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BABS049	1954	F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BABS061	1954	M	black		n/a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BABS067	1959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020C05-12A1-2B12-A49A-68BA7C123F45}"/>
              </a:ext>
            </a:extLst>
          </p:cNvPr>
          <p:cNvSpPr txBox="1"/>
          <p:nvPr/>
        </p:nvSpPr>
        <p:spPr>
          <a:xfrm>
            <a:off x="6739003" y="1137496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participants.tsv</a:t>
            </a:r>
            <a:endParaRPr lang="en-US" dirty="0">
              <a:solidFill>
                <a:srgbClr val="FF000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30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Metadata as text files (</a:t>
            </a:r>
            <a:r>
              <a:rPr lang="en-US" b="1" dirty="0" err="1">
                <a:latin typeface="VerbCond Extralight"/>
              </a:rPr>
              <a:t>tsv</a:t>
            </a:r>
            <a:r>
              <a:rPr lang="en-US" b="1" dirty="0">
                <a:latin typeface="VerbCond Extralight"/>
              </a:rPr>
              <a:t>, </a:t>
            </a:r>
            <a:r>
              <a:rPr lang="en-US" b="1" dirty="0" err="1">
                <a:latin typeface="VerbCond Extralight"/>
              </a:rPr>
              <a:t>json</a:t>
            </a:r>
            <a:r>
              <a:rPr lang="en-US" b="1" dirty="0">
                <a:latin typeface="VerbCond Extralight"/>
              </a:rPr>
              <a:t>)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269DDD6-03E2-3DFF-403C-E0439FAF91FC}"/>
              </a:ext>
            </a:extLst>
          </p:cNvPr>
          <p:cNvSpPr txBox="1"/>
          <p:nvPr/>
        </p:nvSpPr>
        <p:spPr>
          <a:xfrm>
            <a:off x="3193961" y="1506828"/>
            <a:ext cx="5950039" cy="2240924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34290" rIns="0" bIns="34290" anchor="ctr" anchorCtr="0" compatLnSpc="1">
            <a:noAutofit/>
          </a:bodyPr>
          <a:lstStyle/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participant_id</a:t>
            </a: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	YOB	sex	race ethnicity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BABS009	1943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BABS017	1951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BABS038	1952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BABS040	1949	F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BABS043	1951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BABS049	1954	F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BABS061	1954	M	black		n/a</a:t>
            </a: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600" dirty="0">
                <a:solidFill>
                  <a:srgbClr val="000000"/>
                </a:solidFill>
                <a:latin typeface="Courier New" pitchFamily="49"/>
              </a:rPr>
              <a:t>BABS067	1959	M	white		non-</a:t>
            </a:r>
            <a:r>
              <a:rPr lang="en-GB" sz="1600" dirty="0" err="1">
                <a:solidFill>
                  <a:srgbClr val="000000"/>
                </a:solidFill>
                <a:latin typeface="Courier New" pitchFamily="49"/>
              </a:rPr>
              <a:t>hispanic</a:t>
            </a: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dirty="0">
              <a:solidFill>
                <a:srgbClr val="000000"/>
              </a:solidFill>
              <a:latin typeface="Courier New" pitchFamily="4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2A7938-FF5B-BF9D-4511-1F2D82B43E47}"/>
              </a:ext>
            </a:extLst>
          </p:cNvPr>
          <p:cNvSpPr txBox="1"/>
          <p:nvPr/>
        </p:nvSpPr>
        <p:spPr>
          <a:xfrm>
            <a:off x="6739003" y="1137496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Courier" pitchFamily="2" charset="0"/>
              </a:rPr>
              <a:t>participants.tsv</a:t>
            </a:r>
            <a:endParaRPr lang="en-US" dirty="0">
              <a:solidFill>
                <a:srgbClr val="FF0000"/>
              </a:solidFill>
              <a:latin typeface="Courier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1910389" y="5566418"/>
            <a:ext cx="1283572" cy="2196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ACB9E3-77CB-24E8-A2A6-3B52D4455E09}"/>
              </a:ext>
            </a:extLst>
          </p:cNvPr>
          <p:cNvSpPr txBox="1"/>
          <p:nvPr/>
        </p:nvSpPr>
        <p:spPr>
          <a:xfrm>
            <a:off x="3198678" y="4140208"/>
            <a:ext cx="5950039" cy="259050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000000"/>
            </a:solidFill>
            <a:prstDash val="solid"/>
            <a:miter/>
          </a:ln>
        </p:spPr>
        <p:txBody>
          <a:bodyPr vert="horz" wrap="square" lIns="0" tIns="34290" rIns="0" bIns="34290" anchor="ctr" anchorCtr="0" compatLnSpc="1">
            <a:noAutofit/>
          </a:bodyPr>
          <a:lstStyle/>
          <a:p>
            <a:pPr marL="67867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{</a:t>
            </a:r>
          </a:p>
          <a:p>
            <a:pPr marL="525067" lvl="1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“YOB”: {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“Description”: “participant year of birth”,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“Units”: “year”</a:t>
            </a:r>
          </a:p>
          <a:p>
            <a:pPr marL="982267" lvl="2" indent="-67867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}</a:t>
            </a:r>
          </a:p>
          <a:p>
            <a:pPr marL="576263" lvl="2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“sex”: {</a:t>
            </a:r>
          </a:p>
          <a:p>
            <a:pPr marL="1033463" lvl="3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“Description”: “self-reported sex of subject”</a:t>
            </a:r>
          </a:p>
          <a:p>
            <a:pPr marL="1033463" lvl="3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“Levels”: {</a:t>
            </a:r>
          </a:p>
          <a:p>
            <a:pPr marL="1490663" lvl="4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“M”: “male”</a:t>
            </a:r>
          </a:p>
          <a:p>
            <a:pPr marL="1490663" lvl="4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“F”: “female”</a:t>
            </a:r>
          </a:p>
          <a:p>
            <a:pPr marL="1154113" lvl="4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}</a:t>
            </a:r>
          </a:p>
          <a:p>
            <a:pPr marL="692150" lvl="4" defTabSz="685800">
              <a:lnSpc>
                <a:spcPct val="90000"/>
              </a:lnSpc>
              <a:buClr>
                <a:srgbClr val="5B9BD5"/>
              </a:buClr>
              <a:buSzPct val="100000"/>
              <a:buFont typeface="Calibri" pitchFamily="34"/>
              <a:buChar char=" 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400" dirty="0">
                <a:solidFill>
                  <a:srgbClr val="000000"/>
                </a:solidFill>
                <a:latin typeface="Courier New" pitchFamily="49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24543E-99F5-BA18-37B2-0CEE5ABB3733}"/>
              </a:ext>
            </a:extLst>
          </p:cNvPr>
          <p:cNvSpPr txBox="1"/>
          <p:nvPr/>
        </p:nvSpPr>
        <p:spPr>
          <a:xfrm>
            <a:off x="6670074" y="3820870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00B050"/>
                </a:solidFill>
                <a:latin typeface="Courier" pitchFamily="2" charset="0"/>
              </a:rPr>
              <a:t>participants.json</a:t>
            </a:r>
            <a:endParaRPr lang="en-US" dirty="0">
              <a:solidFill>
                <a:srgbClr val="00B050"/>
              </a:solidFill>
              <a:latin typeface="Courier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41BACC-8A17-500E-49A1-FAC98FF1BB70}"/>
              </a:ext>
            </a:extLst>
          </p:cNvPr>
          <p:cNvSpPr/>
          <p:nvPr/>
        </p:nvSpPr>
        <p:spPr>
          <a:xfrm>
            <a:off x="1910389" y="5322570"/>
            <a:ext cx="1283572" cy="219667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31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792A08-D2EC-6FCA-DB9E-7FCAED1609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650" y="127292"/>
            <a:ext cx="7886700" cy="1325563"/>
          </a:xfrm>
        </p:spPr>
        <p:txBody>
          <a:bodyPr/>
          <a:lstStyle/>
          <a:p>
            <a:pPr lvl="0"/>
            <a:r>
              <a:rPr lang="en-US" b="1" dirty="0">
                <a:latin typeface="VerbCond Extralight"/>
              </a:rPr>
              <a:t>Overarching Organization</a:t>
            </a:r>
            <a:endParaRPr lang="en-US" b="1" dirty="0">
              <a:latin typeface="Calibri Light" pitchFamily="3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9E98-ABD6-871A-B6BE-9C58C3BC6A97}"/>
              </a:ext>
            </a:extLst>
          </p:cNvPr>
          <p:cNvSpPr txBox="1"/>
          <p:nvPr/>
        </p:nvSpPr>
        <p:spPr>
          <a:xfrm>
            <a:off x="1143003" y="5701906"/>
            <a:ext cx="1665685" cy="27384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80" tIns="34290" rIns="68580" bIns="34290" anchor="ctr" anchorCtr="1" compatLnSpc="1">
            <a:noAutofit/>
          </a:bodyPr>
          <a:lstStyle/>
          <a:p>
            <a:pPr algn="ctr" defTabSz="34290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50" kern="0" cap="all">
                <a:solidFill>
                  <a:srgbClr val="FFFFFF"/>
                </a:solidFill>
                <a:latin typeface="VerbCond Extralight" pitchFamily="50"/>
              </a:rPr>
              <a:t>Bids.neuroimaging.io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732388-A9FC-F067-6F58-F22226E9F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0" y="1186797"/>
            <a:ext cx="4866961" cy="5194335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28318B0-1B60-C012-560D-0927B4C8DF49}"/>
              </a:ext>
            </a:extLst>
          </p:cNvPr>
          <p:cNvSpPr/>
          <p:nvPr/>
        </p:nvSpPr>
        <p:spPr>
          <a:xfrm>
            <a:off x="233540" y="1518620"/>
            <a:ext cx="1221773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2841C90D-1592-CF65-5B02-A9F9EF7A8A1A}"/>
              </a:ext>
            </a:extLst>
          </p:cNvPr>
          <p:cNvGraphicFramePr/>
          <p:nvPr/>
        </p:nvGraphicFramePr>
        <p:xfrm>
          <a:off x="4051993" y="2043748"/>
          <a:ext cx="5092007" cy="3394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F5F28E-8725-5431-52AD-A7C0395AAFCB}"/>
              </a:ext>
            </a:extLst>
          </p:cNvPr>
          <p:cNvSpPr/>
          <p:nvPr/>
        </p:nvSpPr>
        <p:spPr>
          <a:xfrm>
            <a:off x="233539" y="2043748"/>
            <a:ext cx="1221773" cy="171418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9F9E549-0207-74B1-C436-702D5136A46B}"/>
              </a:ext>
            </a:extLst>
          </p:cNvPr>
          <p:cNvSpPr/>
          <p:nvPr/>
        </p:nvSpPr>
        <p:spPr>
          <a:xfrm>
            <a:off x="233538" y="2523092"/>
            <a:ext cx="1221773" cy="3542858"/>
          </a:xfrm>
          <a:prstGeom prst="roundRect">
            <a:avLst/>
          </a:prstGeom>
          <a:noFill/>
          <a:ln w="28575">
            <a:solidFill>
              <a:srgbClr val="30E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2949A5-3DA0-5B62-FCD2-C041B39D200F}"/>
              </a:ext>
            </a:extLst>
          </p:cNvPr>
          <p:cNvSpPr/>
          <p:nvPr/>
        </p:nvSpPr>
        <p:spPr>
          <a:xfrm>
            <a:off x="1762987" y="1518621"/>
            <a:ext cx="1221773" cy="3285200"/>
          </a:xfrm>
          <a:prstGeom prst="roundRect">
            <a:avLst/>
          </a:prstGeom>
          <a:noFill/>
          <a:ln w="28575">
            <a:solidFill>
              <a:srgbClr val="30E9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2055924-4FFD-BD4D-6234-BAB3626B00F2}"/>
              </a:ext>
            </a:extLst>
          </p:cNvPr>
          <p:cNvSpPr/>
          <p:nvPr/>
        </p:nvSpPr>
        <p:spPr>
          <a:xfrm>
            <a:off x="233537" y="1823738"/>
            <a:ext cx="1221773" cy="171418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6E78D1-544F-71E0-059D-5F8A38F32D1A}"/>
              </a:ext>
            </a:extLst>
          </p:cNvPr>
          <p:cNvSpPr txBox="1"/>
          <p:nvPr/>
        </p:nvSpPr>
        <p:spPr>
          <a:xfrm>
            <a:off x="4263050" y="1630717"/>
            <a:ext cx="473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code</a:t>
            </a:r>
            <a:r>
              <a:rPr lang="en-US" dirty="0"/>
              <a:t> directory contains scripts for the following:</a:t>
            </a:r>
          </a:p>
        </p:txBody>
      </p:sp>
    </p:spTree>
    <p:extLst>
      <p:ext uri="{BB962C8B-B14F-4D97-AF65-F5344CB8AC3E}">
        <p14:creationId xmlns:p14="http://schemas.microsoft.com/office/powerpoint/2010/main" val="394930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AF0AB0C-1277-4943-B250-483E84B403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31AE6F6-6AB7-0C45-A89E-5633B0B66DA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503DEFF5-E9A1-0D40-9FC4-55A45CA7B5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E4619F-2334-AA4A-9CDB-7B7A2C4E08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72FF334B-CBE7-4446-BC3D-7D99ABBDAA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9CDE331-6472-F74C-AEC5-9BCA57B1BC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Graphic spid="2" grpId="0" uiExpand="1">
        <p:bldSub>
          <a:bldDgm bld="one"/>
        </p:bldSub>
      </p:bldGraphic>
      <p:bldP spid="6" grpId="0" animBg="1"/>
      <p:bldP spid="8" grpId="0" animBg="1"/>
      <p:bldP spid="9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452F-A8EC-B7EF-516F-A7986377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21671"/>
          </a:xfrm>
        </p:spPr>
        <p:txBody>
          <a:bodyPr/>
          <a:lstStyle/>
          <a:p>
            <a:r>
              <a:rPr lang="en-US" b="1" dirty="0"/>
              <a:t>Session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7299D-23DC-B6F2-9571-0183F3BB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61" y="1509816"/>
            <a:ext cx="4866961" cy="519433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539AA6-F305-4499-8E1A-D562A1A71131}"/>
              </a:ext>
            </a:extLst>
          </p:cNvPr>
          <p:cNvSpPr/>
          <p:nvPr/>
        </p:nvSpPr>
        <p:spPr>
          <a:xfrm>
            <a:off x="220661" y="5370450"/>
            <a:ext cx="1221773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EFC029-8B9C-DED2-7595-8AA9CEDD1FF8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1442434" y="4978266"/>
            <a:ext cx="2320234" cy="52910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4E9893-710E-62B5-7B9B-7A7B5686428A}"/>
              </a:ext>
            </a:extLst>
          </p:cNvPr>
          <p:cNvGrpSpPr/>
          <p:nvPr/>
        </p:nvGrpSpPr>
        <p:grpSpPr>
          <a:xfrm>
            <a:off x="3762668" y="4312235"/>
            <a:ext cx="5134913" cy="1332062"/>
            <a:chOff x="3425313" y="2512360"/>
            <a:chExt cx="5134913" cy="13320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CFD6D4F-61EE-718B-B6A4-69278C362C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75694"/>
            <a:stretch/>
          </p:blipFill>
          <p:spPr>
            <a:xfrm>
              <a:off x="3425313" y="2512360"/>
              <a:ext cx="5134913" cy="1332062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190F138-9CF3-E737-A59E-9971AE96E304}"/>
                </a:ext>
              </a:extLst>
            </p:cNvPr>
            <p:cNvSpPr/>
            <p:nvPr/>
          </p:nvSpPr>
          <p:spPr>
            <a:xfrm>
              <a:off x="3425313" y="2512360"/>
              <a:ext cx="5134913" cy="1332062"/>
            </a:xfrm>
            <a:prstGeom prst="roundRect">
              <a:avLst>
                <a:gd name="adj" fmla="val 4098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7E70EE9-4889-7146-E002-24330D2A2840}"/>
              </a:ext>
            </a:extLst>
          </p:cNvPr>
          <p:cNvSpPr/>
          <p:nvPr/>
        </p:nvSpPr>
        <p:spPr>
          <a:xfrm>
            <a:off x="220661" y="3752019"/>
            <a:ext cx="1221773" cy="273847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674AB8D-183F-BCF8-47B0-CC6FE78B6FA5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 flipV="1">
            <a:off x="1442434" y="3191803"/>
            <a:ext cx="2320234" cy="69714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02EB1E-736F-BBE9-3846-CD3827AA1EC5}"/>
              </a:ext>
            </a:extLst>
          </p:cNvPr>
          <p:cNvGrpSpPr/>
          <p:nvPr/>
        </p:nvGrpSpPr>
        <p:grpSpPr>
          <a:xfrm>
            <a:off x="3762668" y="2525772"/>
            <a:ext cx="5134913" cy="1332062"/>
            <a:chOff x="3775547" y="3443144"/>
            <a:chExt cx="5134913" cy="133206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158A85-0213-A6BA-0CF4-0FF144C405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75694"/>
            <a:stretch/>
          </p:blipFill>
          <p:spPr>
            <a:xfrm>
              <a:off x="3775547" y="3443144"/>
              <a:ext cx="5134913" cy="1332062"/>
            </a:xfrm>
            <a:prstGeom prst="rect">
              <a:avLst/>
            </a:prstGeom>
          </p:spPr>
        </p:pic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A19864AD-6748-8C9E-3A4A-EC33F3051066}"/>
                </a:ext>
              </a:extLst>
            </p:cNvPr>
            <p:cNvSpPr/>
            <p:nvPr/>
          </p:nvSpPr>
          <p:spPr>
            <a:xfrm>
              <a:off x="3775547" y="3443144"/>
              <a:ext cx="5134913" cy="1332062"/>
            </a:xfrm>
            <a:prstGeom prst="roundRect">
              <a:avLst>
                <a:gd name="adj" fmla="val 4098"/>
              </a:avLst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1E76A50-4B3E-872A-F8B6-4FB80AAD72F5}"/>
              </a:ext>
            </a:extLst>
          </p:cNvPr>
          <p:cNvSpPr txBox="1"/>
          <p:nvPr/>
        </p:nvSpPr>
        <p:spPr>
          <a:xfrm>
            <a:off x="2772645" y="154859"/>
            <a:ext cx="63713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logical grouping of neuroimaging and behavioral data consistent across subjects. Session can (but doesn't have to) be synonymous to a visit in a longitudinal study. In general, subjects will stay in the scanner during one session. 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CDA4E7-B746-BF00-0A9E-A442BB457190}"/>
              </a:ext>
            </a:extLst>
          </p:cNvPr>
          <p:cNvSpPr txBox="1"/>
          <p:nvPr/>
        </p:nvSpPr>
        <p:spPr>
          <a:xfrm>
            <a:off x="5233192" y="1465918"/>
            <a:ext cx="38206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BIDS Glossary: </a:t>
            </a:r>
            <a:r>
              <a:rPr lang="en-US" sz="1200" dirty="0">
                <a:hlinkClick r:id="rId6"/>
              </a:rPr>
              <a:t>https://bids-specification.readthedocs.io/en/stable/glossary.html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9619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452F-A8EC-B7EF-516F-A7986377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61" y="365126"/>
            <a:ext cx="8294689" cy="821671"/>
          </a:xfrm>
        </p:spPr>
        <p:txBody>
          <a:bodyPr/>
          <a:lstStyle/>
          <a:p>
            <a:r>
              <a:rPr lang="en-US" b="1" dirty="0"/>
              <a:t>Data Type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7299D-23DC-B6F2-9571-0183F3BB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61" y="1509816"/>
            <a:ext cx="4866961" cy="519433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539AA6-F305-4499-8E1A-D562A1A71131}"/>
              </a:ext>
            </a:extLst>
          </p:cNvPr>
          <p:cNvSpPr/>
          <p:nvPr/>
        </p:nvSpPr>
        <p:spPr>
          <a:xfrm>
            <a:off x="220661" y="5370450"/>
            <a:ext cx="1221773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EFC029-8B9C-DED2-7595-8AA9CEDD1FF8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1442434" y="2634311"/>
            <a:ext cx="2345992" cy="28730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4E9893-710E-62B5-7B9B-7A7B5686428A}"/>
              </a:ext>
            </a:extLst>
          </p:cNvPr>
          <p:cNvGrpSpPr/>
          <p:nvPr/>
        </p:nvGrpSpPr>
        <p:grpSpPr>
          <a:xfrm>
            <a:off x="3788426" y="1968280"/>
            <a:ext cx="5134913" cy="1332062"/>
            <a:chOff x="3425313" y="2512360"/>
            <a:chExt cx="5134913" cy="13320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CFD6D4F-61EE-718B-B6A4-69278C362C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75694"/>
            <a:stretch/>
          </p:blipFill>
          <p:spPr>
            <a:xfrm>
              <a:off x="3425313" y="2512360"/>
              <a:ext cx="5134913" cy="1332062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190F138-9CF3-E737-A59E-9971AE96E304}"/>
                </a:ext>
              </a:extLst>
            </p:cNvPr>
            <p:cNvSpPr/>
            <p:nvPr/>
          </p:nvSpPr>
          <p:spPr>
            <a:xfrm>
              <a:off x="3425313" y="2512360"/>
              <a:ext cx="5134913" cy="1332062"/>
            </a:xfrm>
            <a:prstGeom prst="roundRect">
              <a:avLst>
                <a:gd name="adj" fmla="val 4098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1E76A50-4B3E-872A-F8B6-4FB80AAD72F5}"/>
              </a:ext>
            </a:extLst>
          </p:cNvPr>
          <p:cNvSpPr txBox="1"/>
          <p:nvPr/>
        </p:nvSpPr>
        <p:spPr>
          <a:xfrm>
            <a:off x="2772645" y="154859"/>
            <a:ext cx="63713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Roboto" panose="02000000000000000000" pitchFamily="2" charset="0"/>
              </a:rPr>
              <a:t>A functional group of different types of data. Data files are contained in a directory named for the data type. In raw datasets, the data type directory is nested inside subject and session directories.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E18737-E90D-411A-47DB-902855F64E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9003"/>
          <a:stretch/>
        </p:blipFill>
        <p:spPr>
          <a:xfrm>
            <a:off x="3889419" y="3555835"/>
            <a:ext cx="5134912" cy="1698746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C1876B-9BDE-23F0-3BF1-7E6C6205B788}"/>
              </a:ext>
            </a:extLst>
          </p:cNvPr>
          <p:cNvSpPr/>
          <p:nvPr/>
        </p:nvSpPr>
        <p:spPr>
          <a:xfrm>
            <a:off x="3891834" y="3544159"/>
            <a:ext cx="5134913" cy="1698745"/>
          </a:xfrm>
          <a:prstGeom prst="roundRect">
            <a:avLst>
              <a:gd name="adj" fmla="val 4098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A2DBAF-D45C-00A1-D744-9CEE594E3D62}"/>
              </a:ext>
            </a:extLst>
          </p:cNvPr>
          <p:cNvCxnSpPr>
            <a:cxnSpLocks/>
          </p:cNvCxnSpPr>
          <p:nvPr/>
        </p:nvCxnSpPr>
        <p:spPr>
          <a:xfrm>
            <a:off x="5355576" y="2786711"/>
            <a:ext cx="311128" cy="76912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49AFAFF-F8E2-7C86-B2BC-FBC005579A00}"/>
              </a:ext>
            </a:extLst>
          </p:cNvPr>
          <p:cNvSpPr/>
          <p:nvPr/>
        </p:nvSpPr>
        <p:spPr>
          <a:xfrm>
            <a:off x="3827137" y="2622634"/>
            <a:ext cx="1528439" cy="164077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60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452F-A8EC-B7EF-516F-A7986377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61" y="365126"/>
            <a:ext cx="8294689" cy="821671"/>
          </a:xfrm>
        </p:spPr>
        <p:txBody>
          <a:bodyPr/>
          <a:lstStyle/>
          <a:p>
            <a:r>
              <a:rPr lang="en-US" b="1" dirty="0"/>
              <a:t>Modality/Run/Task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7299D-23DC-B6F2-9571-0183F3BB5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61" y="1509816"/>
            <a:ext cx="4866961" cy="5194335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539AA6-F305-4499-8E1A-D562A1A71131}"/>
              </a:ext>
            </a:extLst>
          </p:cNvPr>
          <p:cNvSpPr/>
          <p:nvPr/>
        </p:nvSpPr>
        <p:spPr>
          <a:xfrm>
            <a:off x="220661" y="5370450"/>
            <a:ext cx="1221773" cy="27384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EFC029-8B9C-DED2-7595-8AA9CEDD1FF8}"/>
              </a:ext>
            </a:extLst>
          </p:cNvPr>
          <p:cNvCxnSpPr>
            <a:cxnSpLocks/>
            <a:stCxn id="9" idx="3"/>
            <a:endCxn id="6" idx="1"/>
          </p:cNvCxnSpPr>
          <p:nvPr/>
        </p:nvCxnSpPr>
        <p:spPr>
          <a:xfrm flipV="1">
            <a:off x="1442434" y="2634311"/>
            <a:ext cx="2345992" cy="28730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B4E9893-710E-62B5-7B9B-7A7B5686428A}"/>
              </a:ext>
            </a:extLst>
          </p:cNvPr>
          <p:cNvGrpSpPr/>
          <p:nvPr/>
        </p:nvGrpSpPr>
        <p:grpSpPr>
          <a:xfrm>
            <a:off x="3788426" y="1968280"/>
            <a:ext cx="5134913" cy="1332062"/>
            <a:chOff x="3425313" y="2512360"/>
            <a:chExt cx="5134913" cy="133206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CFD6D4F-61EE-718B-B6A4-69278C362C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75694"/>
            <a:stretch/>
          </p:blipFill>
          <p:spPr>
            <a:xfrm>
              <a:off x="3425313" y="2512360"/>
              <a:ext cx="5134913" cy="1332062"/>
            </a:xfrm>
            <a:prstGeom prst="rect">
              <a:avLst/>
            </a:prstGeom>
          </p:spPr>
        </p:pic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D190F138-9CF3-E737-A59E-9971AE96E304}"/>
                </a:ext>
              </a:extLst>
            </p:cNvPr>
            <p:cNvSpPr/>
            <p:nvPr/>
          </p:nvSpPr>
          <p:spPr>
            <a:xfrm>
              <a:off x="3425313" y="2512360"/>
              <a:ext cx="5134913" cy="1332062"/>
            </a:xfrm>
            <a:prstGeom prst="roundRect">
              <a:avLst>
                <a:gd name="adj" fmla="val 4098"/>
              </a:avLst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4E18737-E90D-411A-47DB-902855F64E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9003"/>
          <a:stretch/>
        </p:blipFill>
        <p:spPr>
          <a:xfrm>
            <a:off x="3889419" y="3555835"/>
            <a:ext cx="5134912" cy="169874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C1876B-9BDE-23F0-3BF1-7E6C6205B788}"/>
              </a:ext>
            </a:extLst>
          </p:cNvPr>
          <p:cNvSpPr/>
          <p:nvPr/>
        </p:nvSpPr>
        <p:spPr>
          <a:xfrm>
            <a:off x="3891834" y="3544159"/>
            <a:ext cx="5134913" cy="1698745"/>
          </a:xfrm>
          <a:prstGeom prst="roundRect">
            <a:avLst>
              <a:gd name="adj" fmla="val 4098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5A2DBAF-D45C-00A1-D744-9CEE594E3D62}"/>
              </a:ext>
            </a:extLst>
          </p:cNvPr>
          <p:cNvCxnSpPr>
            <a:cxnSpLocks/>
          </p:cNvCxnSpPr>
          <p:nvPr/>
        </p:nvCxnSpPr>
        <p:spPr>
          <a:xfrm>
            <a:off x="5355576" y="2786711"/>
            <a:ext cx="311128" cy="769124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49AFAFF-F8E2-7C86-B2BC-FBC005579A00}"/>
              </a:ext>
            </a:extLst>
          </p:cNvPr>
          <p:cNvSpPr/>
          <p:nvPr/>
        </p:nvSpPr>
        <p:spPr>
          <a:xfrm>
            <a:off x="3827137" y="2622634"/>
            <a:ext cx="1528439" cy="164077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ED8F17-EE82-F8C2-E920-9EEAF8473DB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763" r="30914" b="71880"/>
          <a:stretch/>
        </p:blipFill>
        <p:spPr>
          <a:xfrm>
            <a:off x="5188615" y="4780731"/>
            <a:ext cx="3913140" cy="1411979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C2A1D08-EF14-38AF-C7F0-9707F5A0768F}"/>
              </a:ext>
            </a:extLst>
          </p:cNvPr>
          <p:cNvSpPr/>
          <p:nvPr/>
        </p:nvSpPr>
        <p:spPr>
          <a:xfrm>
            <a:off x="5188615" y="4780731"/>
            <a:ext cx="3913140" cy="1439091"/>
          </a:xfrm>
          <a:prstGeom prst="roundRect">
            <a:avLst>
              <a:gd name="adj" fmla="val 4098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3C75C4-A26C-EDBA-72CC-AB9D6CB11812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803820" y="4046933"/>
            <a:ext cx="558950" cy="724146"/>
          </a:xfrm>
          <a:prstGeom prst="straightConnector1">
            <a:avLst/>
          </a:prstGeom>
          <a:ln w="190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F3CFA6-0342-7657-9C35-905F7AC51F82}"/>
              </a:ext>
            </a:extLst>
          </p:cNvPr>
          <p:cNvSpPr/>
          <p:nvPr/>
        </p:nvSpPr>
        <p:spPr>
          <a:xfrm>
            <a:off x="3887003" y="3941244"/>
            <a:ext cx="916817" cy="211377"/>
          </a:xfrm>
          <a:prstGeom prst="round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04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452F-A8EC-B7EF-516F-A7986377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661" y="365126"/>
            <a:ext cx="8294689" cy="821671"/>
          </a:xfrm>
        </p:spPr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Nifti</a:t>
            </a:r>
            <a:r>
              <a:rPr lang="en-US" b="1" dirty="0"/>
              <a:t> &amp; </a:t>
            </a:r>
            <a:r>
              <a:rPr lang="en-US" b="1" dirty="0">
                <a:solidFill>
                  <a:schemeClr val="accent1"/>
                </a:solidFill>
              </a:rPr>
              <a:t>JSON Sidecar </a:t>
            </a:r>
            <a:r>
              <a:rPr lang="en-US" b="1" dirty="0"/>
              <a:t>Pairs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ED8F17-EE82-F8C2-E920-9EEAF8473D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63" r="30914" b="71880"/>
          <a:stretch/>
        </p:blipFill>
        <p:spPr>
          <a:xfrm>
            <a:off x="5188615" y="4780731"/>
            <a:ext cx="3913140" cy="1411979"/>
          </a:xfrm>
          <a:prstGeom prst="rect">
            <a:avLst/>
          </a:prstGeom>
        </p:spPr>
      </p:pic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C2A1D08-EF14-38AF-C7F0-9707F5A0768F}"/>
              </a:ext>
            </a:extLst>
          </p:cNvPr>
          <p:cNvSpPr/>
          <p:nvPr/>
        </p:nvSpPr>
        <p:spPr>
          <a:xfrm>
            <a:off x="5188615" y="4780731"/>
            <a:ext cx="3913140" cy="1439091"/>
          </a:xfrm>
          <a:prstGeom prst="roundRect">
            <a:avLst>
              <a:gd name="adj" fmla="val 4098"/>
            </a:avLst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36A49-1CBD-0083-5806-D3C2E530B6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2655"/>
          <a:stretch/>
        </p:blipFill>
        <p:spPr>
          <a:xfrm>
            <a:off x="2464477" y="1028037"/>
            <a:ext cx="6510581" cy="352942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6E9603-8BB0-D656-6D50-6E2E2DABF4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92" y="3785345"/>
            <a:ext cx="3945506" cy="287004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BA60522-556F-2A6C-5CFF-9D17A3AE52A7}"/>
              </a:ext>
            </a:extLst>
          </p:cNvPr>
          <p:cNvSpPr/>
          <p:nvPr/>
        </p:nvSpPr>
        <p:spPr>
          <a:xfrm>
            <a:off x="5293217" y="5834130"/>
            <a:ext cx="3322749" cy="2318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65DB073-DC0C-9188-1846-94517D103053}"/>
              </a:ext>
            </a:extLst>
          </p:cNvPr>
          <p:cNvSpPr/>
          <p:nvPr/>
        </p:nvSpPr>
        <p:spPr>
          <a:xfrm>
            <a:off x="5293216" y="5549441"/>
            <a:ext cx="3322749" cy="231819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F3B730-01C5-1D52-1158-0FA47F1833A8}"/>
              </a:ext>
            </a:extLst>
          </p:cNvPr>
          <p:cNvCxnSpPr/>
          <p:nvPr/>
        </p:nvCxnSpPr>
        <p:spPr>
          <a:xfrm flipH="1" flipV="1">
            <a:off x="4893972" y="4557458"/>
            <a:ext cx="399244" cy="110789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14FD97-D09F-4EB5-16B0-8F26F87A137F}"/>
              </a:ext>
            </a:extLst>
          </p:cNvPr>
          <p:cNvCxnSpPr>
            <a:cxnSpLocks/>
            <a:stCxn id="15" idx="1"/>
            <a:endCxn id="13" idx="3"/>
          </p:cNvCxnSpPr>
          <p:nvPr/>
        </p:nvCxnSpPr>
        <p:spPr>
          <a:xfrm flipH="1" flipV="1">
            <a:off x="4269198" y="5220369"/>
            <a:ext cx="1024019" cy="7296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39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2BE4-4985-734D-71AA-1D34DEC9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 Filenames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B8807-5851-E047-CB5E-CE9C0E830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044"/>
          <a:stretch/>
        </p:blipFill>
        <p:spPr>
          <a:xfrm>
            <a:off x="311699" y="1410865"/>
            <a:ext cx="6134100" cy="2646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DBC74D-3682-141B-0EBD-62C961A68F9E}"/>
              </a:ext>
            </a:extLst>
          </p:cNvPr>
          <p:cNvSpPr txBox="1"/>
          <p:nvPr/>
        </p:nvSpPr>
        <p:spPr>
          <a:xfrm>
            <a:off x="159809" y="4412773"/>
            <a:ext cx="898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sub-BABS040_ses-ADDMPlacebo_task-rewardmem_run-01</a:t>
            </a:r>
            <a:r>
              <a:rPr lang="en-US" sz="2400" dirty="0"/>
              <a:t>_</a:t>
            </a:r>
            <a:r>
              <a:rPr lang="en-US" sz="2400" dirty="0">
                <a:highlight>
                  <a:srgbClr val="00FFFF"/>
                </a:highlight>
              </a:rPr>
              <a:t>bold</a:t>
            </a:r>
            <a:r>
              <a:rPr lang="en-US" sz="2400" dirty="0"/>
              <a:t>.</a:t>
            </a:r>
            <a:r>
              <a:rPr lang="en-US" sz="2400" dirty="0">
                <a:highlight>
                  <a:srgbClr val="00FF00"/>
                </a:highlight>
              </a:rPr>
              <a:t>nii.gz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D43567-0A64-D8EA-50C4-F299B08D608E}"/>
              </a:ext>
            </a:extLst>
          </p:cNvPr>
          <p:cNvSpPr txBox="1"/>
          <p:nvPr/>
        </p:nvSpPr>
        <p:spPr>
          <a:xfrm>
            <a:off x="3218506" y="5279977"/>
            <a:ext cx="9629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FFFF00"/>
                </a:highlight>
              </a:rPr>
              <a:t>Entities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627B2-5CC4-D0D0-F7A8-2F977A042A90}"/>
              </a:ext>
            </a:extLst>
          </p:cNvPr>
          <p:cNvSpPr txBox="1"/>
          <p:nvPr/>
        </p:nvSpPr>
        <p:spPr>
          <a:xfrm>
            <a:off x="5683757" y="5284102"/>
            <a:ext cx="17531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00FFFF"/>
                </a:highlight>
              </a:rPr>
              <a:t>Modality Suffix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A533C2-3D34-FAE8-AFB3-C008558BE858}"/>
              </a:ext>
            </a:extLst>
          </p:cNvPr>
          <p:cNvSpPr txBox="1"/>
          <p:nvPr/>
        </p:nvSpPr>
        <p:spPr>
          <a:xfrm>
            <a:off x="7523428" y="5262469"/>
            <a:ext cx="16205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ighlight>
                  <a:srgbClr val="00FF00"/>
                </a:highlight>
              </a:rPr>
              <a:t>File Extension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6EC12A-36C9-553D-D461-3D1F84B853E2}"/>
              </a:ext>
            </a:extLst>
          </p:cNvPr>
          <p:cNvSpPr txBox="1"/>
          <p:nvPr/>
        </p:nvSpPr>
        <p:spPr>
          <a:xfrm>
            <a:off x="3075229" y="5716294"/>
            <a:ext cx="124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key-&lt;label&gt;</a:t>
            </a:r>
          </a:p>
        </p:txBody>
      </p:sp>
    </p:spTree>
    <p:extLst>
      <p:ext uri="{BB962C8B-B14F-4D97-AF65-F5344CB8AC3E}">
        <p14:creationId xmlns:p14="http://schemas.microsoft.com/office/powerpoint/2010/main" val="164959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4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2BE4-4985-734D-71AA-1D34DEC9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 Filenames: Entities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B8807-5851-E047-CB5E-CE9C0E830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044"/>
          <a:stretch/>
        </p:blipFill>
        <p:spPr>
          <a:xfrm>
            <a:off x="311699" y="1410865"/>
            <a:ext cx="6134100" cy="2646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DBC74D-3682-141B-0EBD-62C961A68F9E}"/>
              </a:ext>
            </a:extLst>
          </p:cNvPr>
          <p:cNvSpPr txBox="1"/>
          <p:nvPr/>
        </p:nvSpPr>
        <p:spPr>
          <a:xfrm>
            <a:off x="159809" y="4412773"/>
            <a:ext cx="898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sub-BABS040</a:t>
            </a:r>
            <a:r>
              <a:rPr lang="en-US" sz="2400" dirty="0"/>
              <a:t>_ses-ADDMPlacebo_task-rewardmem_run-01_bold.nii.gz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F9060-AD3B-13B1-6AD4-7A4C593A08CD}"/>
              </a:ext>
            </a:extLst>
          </p:cNvPr>
          <p:cNvSpPr txBox="1"/>
          <p:nvPr/>
        </p:nvSpPr>
        <p:spPr>
          <a:xfrm>
            <a:off x="559054" y="5230274"/>
            <a:ext cx="957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Subject</a:t>
            </a:r>
          </a:p>
        </p:txBody>
      </p:sp>
    </p:spTree>
    <p:extLst>
      <p:ext uri="{BB962C8B-B14F-4D97-AF65-F5344CB8AC3E}">
        <p14:creationId xmlns:p14="http://schemas.microsoft.com/office/powerpoint/2010/main" val="964139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2BE4-4985-734D-71AA-1D34DEC9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 Filenames: Entities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B8807-5851-E047-CB5E-CE9C0E830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044"/>
          <a:stretch/>
        </p:blipFill>
        <p:spPr>
          <a:xfrm>
            <a:off x="311699" y="1410865"/>
            <a:ext cx="6134100" cy="2646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DBC74D-3682-141B-0EBD-62C961A68F9E}"/>
              </a:ext>
            </a:extLst>
          </p:cNvPr>
          <p:cNvSpPr txBox="1"/>
          <p:nvPr/>
        </p:nvSpPr>
        <p:spPr>
          <a:xfrm>
            <a:off x="159809" y="4412773"/>
            <a:ext cx="898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sub-BABS040</a:t>
            </a:r>
            <a:r>
              <a:rPr lang="en-US" sz="2400" dirty="0"/>
              <a:t>_</a:t>
            </a:r>
            <a:r>
              <a:rPr lang="en-US" sz="2400" dirty="0">
                <a:solidFill>
                  <a:srgbClr val="00B050"/>
                </a:solidFill>
              </a:rPr>
              <a:t>ses-ADDMPlacebo</a:t>
            </a:r>
            <a:r>
              <a:rPr lang="en-US" sz="2400" dirty="0"/>
              <a:t>_task-rewardmem_run-01_bold.nii.gz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F9060-AD3B-13B1-6AD4-7A4C593A08CD}"/>
              </a:ext>
            </a:extLst>
          </p:cNvPr>
          <p:cNvSpPr txBox="1"/>
          <p:nvPr/>
        </p:nvSpPr>
        <p:spPr>
          <a:xfrm>
            <a:off x="559054" y="5230274"/>
            <a:ext cx="957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Subject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60E18-5738-8466-93A1-BD9D91466BC5}"/>
              </a:ext>
            </a:extLst>
          </p:cNvPr>
          <p:cNvSpPr txBox="1"/>
          <p:nvPr/>
        </p:nvSpPr>
        <p:spPr>
          <a:xfrm>
            <a:off x="2746316" y="5247080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50"/>
                </a:solidFill>
              </a:rPr>
              <a:t>Session</a:t>
            </a:r>
          </a:p>
        </p:txBody>
      </p:sp>
    </p:spTree>
    <p:extLst>
      <p:ext uri="{BB962C8B-B14F-4D97-AF65-F5344CB8AC3E}">
        <p14:creationId xmlns:p14="http://schemas.microsoft.com/office/powerpoint/2010/main" val="894268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2BE4-4985-734D-71AA-1D34DEC9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 Filenames: Entities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B8807-5851-E047-CB5E-CE9C0E830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044"/>
          <a:stretch/>
        </p:blipFill>
        <p:spPr>
          <a:xfrm>
            <a:off x="311699" y="1410865"/>
            <a:ext cx="6134100" cy="2646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DBC74D-3682-141B-0EBD-62C961A68F9E}"/>
              </a:ext>
            </a:extLst>
          </p:cNvPr>
          <p:cNvSpPr txBox="1"/>
          <p:nvPr/>
        </p:nvSpPr>
        <p:spPr>
          <a:xfrm>
            <a:off x="159809" y="4412773"/>
            <a:ext cx="898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sub-BABS040</a:t>
            </a:r>
            <a:r>
              <a:rPr lang="en-US" sz="2400" dirty="0"/>
              <a:t>_</a:t>
            </a:r>
            <a:r>
              <a:rPr lang="en-US" sz="2400" dirty="0">
                <a:solidFill>
                  <a:srgbClr val="00B050"/>
                </a:solidFill>
              </a:rPr>
              <a:t>ses-ADDMPlacebo</a:t>
            </a:r>
            <a:r>
              <a:rPr lang="en-US" sz="2400" dirty="0"/>
              <a:t>_</a:t>
            </a:r>
            <a:r>
              <a:rPr lang="en-US" sz="2400" dirty="0">
                <a:solidFill>
                  <a:srgbClr val="00B0F0"/>
                </a:solidFill>
              </a:rPr>
              <a:t>task-rewardmem</a:t>
            </a:r>
            <a:r>
              <a:rPr lang="en-US" sz="2400" dirty="0"/>
              <a:t>_</a:t>
            </a:r>
            <a:r>
              <a:rPr lang="en-US" sz="2400" dirty="0">
                <a:solidFill>
                  <a:schemeClr val="accent2"/>
                </a:solidFill>
              </a:rPr>
              <a:t>run-01</a:t>
            </a:r>
            <a:r>
              <a:rPr lang="en-US" sz="2400" dirty="0"/>
              <a:t>_bold.nii.gz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F9060-AD3B-13B1-6AD4-7A4C593A08CD}"/>
              </a:ext>
            </a:extLst>
          </p:cNvPr>
          <p:cNvSpPr txBox="1"/>
          <p:nvPr/>
        </p:nvSpPr>
        <p:spPr>
          <a:xfrm>
            <a:off x="79092" y="5247080"/>
            <a:ext cx="2036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Subject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(Always 1</a:t>
            </a:r>
            <a:r>
              <a:rPr lang="en-US" sz="2000" baseline="30000" dirty="0">
                <a:solidFill>
                  <a:srgbClr val="FF0000"/>
                </a:solidFill>
              </a:rPr>
              <a:t>st</a:t>
            </a:r>
            <a:r>
              <a:rPr lang="en-US" sz="2000" dirty="0">
                <a:solidFill>
                  <a:srgbClr val="FF0000"/>
                </a:solidFill>
              </a:rPr>
              <a:t> 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60E18-5738-8466-93A1-BD9D91466BC5}"/>
              </a:ext>
            </a:extLst>
          </p:cNvPr>
          <p:cNvSpPr txBox="1"/>
          <p:nvPr/>
        </p:nvSpPr>
        <p:spPr>
          <a:xfrm>
            <a:off x="2746316" y="5247080"/>
            <a:ext cx="20926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Session</a:t>
            </a:r>
          </a:p>
          <a:p>
            <a:pPr algn="ctr"/>
            <a:r>
              <a:rPr lang="en-US" sz="2000" dirty="0">
                <a:solidFill>
                  <a:srgbClr val="00B050"/>
                </a:solidFill>
              </a:rPr>
              <a:t>(Always 2</a:t>
            </a:r>
            <a:r>
              <a:rPr lang="en-US" sz="2000" baseline="30000" dirty="0">
                <a:solidFill>
                  <a:srgbClr val="00B050"/>
                </a:solidFill>
              </a:rPr>
              <a:t>nd</a:t>
            </a:r>
            <a:r>
              <a:rPr lang="en-US" sz="2000" dirty="0">
                <a:solidFill>
                  <a:srgbClr val="00B050"/>
                </a:solidFill>
              </a:rPr>
              <a:t> Entity)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8C626-BF78-9499-DC3C-CFA4D1DE46A9}"/>
              </a:ext>
            </a:extLst>
          </p:cNvPr>
          <p:cNvSpPr txBox="1"/>
          <p:nvPr/>
        </p:nvSpPr>
        <p:spPr>
          <a:xfrm>
            <a:off x="5196452" y="5253324"/>
            <a:ext cx="631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2B896-FC5F-56F2-F262-A31008F700C8}"/>
              </a:ext>
            </a:extLst>
          </p:cNvPr>
          <p:cNvSpPr txBox="1"/>
          <p:nvPr/>
        </p:nvSpPr>
        <p:spPr>
          <a:xfrm>
            <a:off x="6816040" y="5247080"/>
            <a:ext cx="593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3931972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2BE4-4985-734D-71AA-1D34DEC9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 Filenames: Entities (</a:t>
            </a:r>
            <a:r>
              <a:rPr lang="en-US" dirty="0">
                <a:highlight>
                  <a:srgbClr val="FFFF00"/>
                </a:highlight>
              </a:rPr>
              <a:t>Keys</a:t>
            </a:r>
            <a:r>
              <a:rPr lang="en-US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B8807-5851-E047-CB5E-CE9C0E830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044"/>
          <a:stretch/>
        </p:blipFill>
        <p:spPr>
          <a:xfrm>
            <a:off x="311699" y="1410865"/>
            <a:ext cx="6134100" cy="2646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DBC74D-3682-141B-0EBD-62C961A68F9E}"/>
              </a:ext>
            </a:extLst>
          </p:cNvPr>
          <p:cNvSpPr txBox="1"/>
          <p:nvPr/>
        </p:nvSpPr>
        <p:spPr>
          <a:xfrm>
            <a:off x="159809" y="4412773"/>
            <a:ext cx="898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sub</a:t>
            </a:r>
            <a:r>
              <a:rPr lang="en-US" sz="2400" dirty="0">
                <a:solidFill>
                  <a:srgbClr val="FF0000"/>
                </a:solidFill>
              </a:rPr>
              <a:t>-BABS040</a:t>
            </a:r>
            <a:r>
              <a:rPr lang="en-US" sz="2400" dirty="0"/>
              <a:t>_</a:t>
            </a:r>
            <a:r>
              <a:rPr lang="en-US" sz="2400" dirty="0">
                <a:solidFill>
                  <a:srgbClr val="00B050"/>
                </a:solidFill>
                <a:highlight>
                  <a:srgbClr val="FFFF00"/>
                </a:highlight>
              </a:rPr>
              <a:t>ses</a:t>
            </a:r>
            <a:r>
              <a:rPr lang="en-US" sz="2400" dirty="0">
                <a:solidFill>
                  <a:srgbClr val="00B050"/>
                </a:solidFill>
              </a:rPr>
              <a:t>-ADDMPlacebo</a:t>
            </a:r>
            <a:r>
              <a:rPr lang="en-US" sz="2400" dirty="0"/>
              <a:t>_</a:t>
            </a:r>
            <a:r>
              <a:rPr lang="en-US" sz="2400" dirty="0">
                <a:solidFill>
                  <a:srgbClr val="00B0F0"/>
                </a:solidFill>
                <a:highlight>
                  <a:srgbClr val="FFFF00"/>
                </a:highlight>
              </a:rPr>
              <a:t>task</a:t>
            </a:r>
            <a:r>
              <a:rPr lang="en-US" sz="2400" dirty="0">
                <a:solidFill>
                  <a:srgbClr val="00B0F0"/>
                </a:solidFill>
              </a:rPr>
              <a:t>-rewardmem</a:t>
            </a:r>
            <a:r>
              <a:rPr lang="en-US" sz="2400" dirty="0"/>
              <a:t>_</a:t>
            </a:r>
            <a:r>
              <a:rPr lang="en-US" sz="2400" dirty="0">
                <a:solidFill>
                  <a:schemeClr val="accent2"/>
                </a:solidFill>
                <a:highlight>
                  <a:srgbClr val="FFFF00"/>
                </a:highlight>
              </a:rPr>
              <a:t>run</a:t>
            </a:r>
            <a:r>
              <a:rPr lang="en-US" sz="2400" dirty="0">
                <a:solidFill>
                  <a:schemeClr val="accent2"/>
                </a:solidFill>
              </a:rPr>
              <a:t>-01</a:t>
            </a:r>
            <a:r>
              <a:rPr lang="en-US" sz="2400" dirty="0"/>
              <a:t>_bold.nii.gz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F9060-AD3B-13B1-6AD4-7A4C593A08CD}"/>
              </a:ext>
            </a:extLst>
          </p:cNvPr>
          <p:cNvSpPr txBox="1"/>
          <p:nvPr/>
        </p:nvSpPr>
        <p:spPr>
          <a:xfrm>
            <a:off x="79092" y="5247080"/>
            <a:ext cx="2036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Subject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(Always 1</a:t>
            </a:r>
            <a:r>
              <a:rPr lang="en-US" sz="2000" baseline="30000" dirty="0">
                <a:solidFill>
                  <a:srgbClr val="FF0000"/>
                </a:solidFill>
              </a:rPr>
              <a:t>st</a:t>
            </a:r>
            <a:r>
              <a:rPr lang="en-US" sz="2000" dirty="0">
                <a:solidFill>
                  <a:srgbClr val="FF0000"/>
                </a:solidFill>
              </a:rPr>
              <a:t> 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60E18-5738-8466-93A1-BD9D91466BC5}"/>
              </a:ext>
            </a:extLst>
          </p:cNvPr>
          <p:cNvSpPr txBox="1"/>
          <p:nvPr/>
        </p:nvSpPr>
        <p:spPr>
          <a:xfrm>
            <a:off x="2746316" y="5247080"/>
            <a:ext cx="20926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Session</a:t>
            </a:r>
          </a:p>
          <a:p>
            <a:pPr algn="ctr"/>
            <a:r>
              <a:rPr lang="en-US" sz="2000" dirty="0">
                <a:solidFill>
                  <a:srgbClr val="00B050"/>
                </a:solidFill>
              </a:rPr>
              <a:t>(Always 2</a:t>
            </a:r>
            <a:r>
              <a:rPr lang="en-US" sz="2000" baseline="30000" dirty="0">
                <a:solidFill>
                  <a:srgbClr val="00B050"/>
                </a:solidFill>
              </a:rPr>
              <a:t>nd</a:t>
            </a:r>
            <a:r>
              <a:rPr lang="en-US" sz="2000" dirty="0">
                <a:solidFill>
                  <a:srgbClr val="00B050"/>
                </a:solidFill>
              </a:rPr>
              <a:t> Entity)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8C626-BF78-9499-DC3C-CFA4D1DE46A9}"/>
              </a:ext>
            </a:extLst>
          </p:cNvPr>
          <p:cNvSpPr txBox="1"/>
          <p:nvPr/>
        </p:nvSpPr>
        <p:spPr>
          <a:xfrm>
            <a:off x="5196452" y="5253324"/>
            <a:ext cx="631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2B896-FC5F-56F2-F262-A31008F700C8}"/>
              </a:ext>
            </a:extLst>
          </p:cNvPr>
          <p:cNvSpPr txBox="1"/>
          <p:nvPr/>
        </p:nvSpPr>
        <p:spPr>
          <a:xfrm>
            <a:off x="6816040" y="5247080"/>
            <a:ext cx="593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18192011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72BE4-4985-734D-71AA-1D34DEC9E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 Filenames: Entities (</a:t>
            </a:r>
            <a:r>
              <a:rPr lang="en-US" dirty="0">
                <a:highlight>
                  <a:srgbClr val="00FFFF"/>
                </a:highlight>
              </a:rPr>
              <a:t>Values</a:t>
            </a:r>
            <a:r>
              <a:rPr lang="en-US" dirty="0"/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B8807-5851-E047-CB5E-CE9C0E8304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044"/>
          <a:stretch/>
        </p:blipFill>
        <p:spPr>
          <a:xfrm>
            <a:off x="311699" y="1410865"/>
            <a:ext cx="6134100" cy="2646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DBC74D-3682-141B-0EBD-62C961A68F9E}"/>
              </a:ext>
            </a:extLst>
          </p:cNvPr>
          <p:cNvSpPr txBox="1"/>
          <p:nvPr/>
        </p:nvSpPr>
        <p:spPr>
          <a:xfrm>
            <a:off x="159809" y="4412773"/>
            <a:ext cx="8984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sub-</a:t>
            </a:r>
            <a:r>
              <a:rPr lang="en-US" sz="2400" dirty="0">
                <a:solidFill>
                  <a:srgbClr val="FF0000"/>
                </a:solidFill>
                <a:highlight>
                  <a:srgbClr val="00FFFF"/>
                </a:highlight>
              </a:rPr>
              <a:t>BABS040</a:t>
            </a:r>
            <a:r>
              <a:rPr lang="en-US" sz="2400" dirty="0"/>
              <a:t>_</a:t>
            </a:r>
            <a:r>
              <a:rPr lang="en-US" sz="2400" dirty="0">
                <a:solidFill>
                  <a:srgbClr val="00B050"/>
                </a:solidFill>
              </a:rPr>
              <a:t>ses-</a:t>
            </a:r>
            <a:r>
              <a:rPr lang="en-US" sz="2400" dirty="0">
                <a:solidFill>
                  <a:srgbClr val="00B050"/>
                </a:solidFill>
                <a:highlight>
                  <a:srgbClr val="00FFFF"/>
                </a:highlight>
              </a:rPr>
              <a:t>ADDMPlacebo</a:t>
            </a:r>
            <a:r>
              <a:rPr lang="en-US" sz="2400" dirty="0"/>
              <a:t>_</a:t>
            </a:r>
            <a:r>
              <a:rPr lang="en-US" sz="2400" dirty="0">
                <a:solidFill>
                  <a:srgbClr val="00B0F0"/>
                </a:solidFill>
              </a:rPr>
              <a:t>task-</a:t>
            </a:r>
            <a:r>
              <a:rPr lang="en-US" sz="2400" dirty="0">
                <a:solidFill>
                  <a:srgbClr val="00B0F0"/>
                </a:solidFill>
                <a:highlight>
                  <a:srgbClr val="00FFFF"/>
                </a:highlight>
              </a:rPr>
              <a:t>rewardmem</a:t>
            </a:r>
            <a:r>
              <a:rPr lang="en-US" sz="2400" dirty="0"/>
              <a:t>_</a:t>
            </a:r>
            <a:r>
              <a:rPr lang="en-US" sz="2400" dirty="0">
                <a:solidFill>
                  <a:schemeClr val="accent2"/>
                </a:solidFill>
              </a:rPr>
              <a:t>run-</a:t>
            </a:r>
            <a:r>
              <a:rPr lang="en-US" sz="2400" dirty="0">
                <a:solidFill>
                  <a:schemeClr val="accent2"/>
                </a:solidFill>
                <a:highlight>
                  <a:srgbClr val="00FFFF"/>
                </a:highlight>
              </a:rPr>
              <a:t>01</a:t>
            </a:r>
            <a:r>
              <a:rPr lang="en-US" sz="2400" dirty="0"/>
              <a:t>_bold.nii.gz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F9060-AD3B-13B1-6AD4-7A4C593A08CD}"/>
              </a:ext>
            </a:extLst>
          </p:cNvPr>
          <p:cNvSpPr txBox="1"/>
          <p:nvPr/>
        </p:nvSpPr>
        <p:spPr>
          <a:xfrm>
            <a:off x="79092" y="5247080"/>
            <a:ext cx="20362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Subject</a:t>
            </a:r>
          </a:p>
          <a:p>
            <a:pPr algn="ctr"/>
            <a:r>
              <a:rPr lang="en-US" sz="2000" dirty="0">
                <a:solidFill>
                  <a:srgbClr val="FF0000"/>
                </a:solidFill>
              </a:rPr>
              <a:t>(Always 1</a:t>
            </a:r>
            <a:r>
              <a:rPr lang="en-US" sz="2000" baseline="30000" dirty="0">
                <a:solidFill>
                  <a:srgbClr val="FF0000"/>
                </a:solidFill>
              </a:rPr>
              <a:t>st</a:t>
            </a:r>
            <a:r>
              <a:rPr lang="en-US" sz="2000" dirty="0">
                <a:solidFill>
                  <a:srgbClr val="FF0000"/>
                </a:solidFill>
              </a:rPr>
              <a:t> Entity)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760E18-5738-8466-93A1-BD9D91466BC5}"/>
              </a:ext>
            </a:extLst>
          </p:cNvPr>
          <p:cNvSpPr txBox="1"/>
          <p:nvPr/>
        </p:nvSpPr>
        <p:spPr>
          <a:xfrm>
            <a:off x="2746316" y="5247080"/>
            <a:ext cx="20926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rgbClr val="00B050"/>
                </a:solidFill>
              </a:rPr>
              <a:t>Session</a:t>
            </a:r>
          </a:p>
          <a:p>
            <a:pPr algn="ctr"/>
            <a:r>
              <a:rPr lang="en-US" sz="2000" dirty="0">
                <a:solidFill>
                  <a:srgbClr val="00B050"/>
                </a:solidFill>
              </a:rPr>
              <a:t>(Always 2</a:t>
            </a:r>
            <a:r>
              <a:rPr lang="en-US" sz="2000" baseline="30000" dirty="0">
                <a:solidFill>
                  <a:srgbClr val="00B050"/>
                </a:solidFill>
              </a:rPr>
              <a:t>nd</a:t>
            </a:r>
            <a:r>
              <a:rPr lang="en-US" sz="2000" dirty="0">
                <a:solidFill>
                  <a:srgbClr val="00B050"/>
                </a:solidFill>
              </a:rPr>
              <a:t> Entity)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8C626-BF78-9499-DC3C-CFA4D1DE46A9}"/>
              </a:ext>
            </a:extLst>
          </p:cNvPr>
          <p:cNvSpPr txBox="1"/>
          <p:nvPr/>
        </p:nvSpPr>
        <p:spPr>
          <a:xfrm>
            <a:off x="5196452" y="5253324"/>
            <a:ext cx="631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Task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2B896-FC5F-56F2-F262-A31008F700C8}"/>
              </a:ext>
            </a:extLst>
          </p:cNvPr>
          <p:cNvSpPr txBox="1"/>
          <p:nvPr/>
        </p:nvSpPr>
        <p:spPr>
          <a:xfrm>
            <a:off x="6816040" y="5247080"/>
            <a:ext cx="593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2177593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3C85-24A1-9006-6E8A-9E1E963B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BIDS Specification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ED6E9-98E6-E38F-3B42-1E23B89AF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https://bids-specification.readthedocs.io/en/stable/</a:t>
            </a:r>
            <a:endParaRPr lang="en-US" dirty="0"/>
          </a:p>
          <a:p>
            <a:endParaRPr lang="en-US" dirty="0"/>
          </a:p>
          <a:p>
            <a:r>
              <a:rPr lang="en-US" dirty="0"/>
              <a:t>Documentation for:</a:t>
            </a:r>
          </a:p>
          <a:p>
            <a:pPr lvl="1"/>
            <a:r>
              <a:rPr lang="en-US" dirty="0"/>
              <a:t>Common Principles</a:t>
            </a:r>
          </a:p>
          <a:p>
            <a:pPr lvl="1"/>
            <a:r>
              <a:rPr lang="en-US" dirty="0"/>
              <a:t>Modality Specific Files</a:t>
            </a:r>
          </a:p>
          <a:p>
            <a:pPr lvl="1"/>
            <a:r>
              <a:rPr lang="en-US" dirty="0"/>
              <a:t>Modality Agnostic Files</a:t>
            </a:r>
          </a:p>
          <a:p>
            <a:pPr lvl="1"/>
            <a:r>
              <a:rPr lang="en-US" dirty="0"/>
              <a:t>Glossary of terms</a:t>
            </a:r>
          </a:p>
          <a:p>
            <a:pPr lvl="1"/>
            <a:r>
              <a:rPr lang="en-US" dirty="0"/>
              <a:t>BIDS Extension Proposals</a:t>
            </a:r>
          </a:p>
        </p:txBody>
      </p:sp>
    </p:spTree>
    <p:extLst>
      <p:ext uri="{BB962C8B-B14F-4D97-AF65-F5344CB8AC3E}">
        <p14:creationId xmlns:p14="http://schemas.microsoft.com/office/powerpoint/2010/main" val="9455081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6;p29">
            <a:extLst>
              <a:ext uri="{FF2B5EF4-FFF2-40B4-BE49-F238E27FC236}">
                <a16:creationId xmlns:a16="http://schemas.microsoft.com/office/drawing/2014/main" id="{101208D6-E6D2-F182-1CA9-FCE2346B8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2" y="2009722"/>
            <a:ext cx="8520599" cy="3416402"/>
          </a:xfrm>
        </p:spPr>
        <p:txBody>
          <a:bodyPr vert="horz" lIns="91424" tIns="91424" rIns="91424" bIns="91424" rtlCol="0">
            <a:noAutofit/>
          </a:bodyPr>
          <a:lstStyle/>
          <a:p>
            <a:pPr marL="342900" lvl="1" indent="-342900" algn="just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GB" sz="2100"/>
              <a:t>The Brain Imaging Data </a:t>
            </a:r>
            <a:r>
              <a:rPr lang="en-GB" sz="2100" i="1" u="sng"/>
              <a:t>Structure</a:t>
            </a:r>
            <a:r>
              <a:rPr lang="en-GB" sz="2100"/>
              <a:t>, is not a new file format</a:t>
            </a:r>
          </a:p>
          <a:p>
            <a:pPr marL="342900" lvl="1" indent="-342900" algn="just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GB" sz="2100"/>
              <a:t>BIDS is not a database tool, but it helps archiving and major imaging databasing tools (XNat, Loris, etc) are BIDS compliant</a:t>
            </a:r>
          </a:p>
          <a:p>
            <a:pPr marL="342900" lvl="1" indent="-342900" algn="just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GB" sz="2100"/>
              <a:t>BIDS is not a search engine, but it facilitates data discovery for search engines</a:t>
            </a:r>
          </a:p>
          <a:p>
            <a:pPr marL="342900" lvl="1" indent="-342900" algn="just"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GB" sz="2100"/>
              <a:t>BIDS is not a sharing tool, but it facilitates sharing </a:t>
            </a:r>
          </a:p>
          <a:p>
            <a:pPr marL="674999" lvl="1" indent="-342900" algn="just">
              <a:lnSpc>
                <a:spcPct val="100000"/>
              </a:lnSpc>
              <a:spcBef>
                <a:spcPts val="0"/>
              </a:spcBef>
              <a:buSzPts val="1400"/>
              <a:buFont typeface="Wingdings" pitchFamily="2"/>
              <a:buChar char="Ø"/>
            </a:pPr>
            <a:r>
              <a:rPr lang="en-GB" sz="2100"/>
              <a:t>with yourself next time you look at old data, </a:t>
            </a:r>
          </a:p>
          <a:p>
            <a:pPr marL="674999" lvl="1" indent="-342900" algn="just">
              <a:lnSpc>
                <a:spcPct val="100000"/>
              </a:lnSpc>
              <a:spcBef>
                <a:spcPts val="0"/>
              </a:spcBef>
              <a:buSzPts val="1400"/>
              <a:buFont typeface="Wingdings" pitchFamily="2"/>
              <a:buChar char="Ø"/>
            </a:pPr>
            <a:r>
              <a:rPr lang="en-GB" sz="2100"/>
              <a:t>with members of the lab (new students, new collaborators)</a:t>
            </a:r>
          </a:p>
          <a:p>
            <a:pPr marL="674999" lvl="1" indent="-342900" algn="just">
              <a:lnSpc>
                <a:spcPct val="100000"/>
              </a:lnSpc>
              <a:spcBef>
                <a:spcPts val="0"/>
              </a:spcBef>
              <a:buSzPts val="1400"/>
              <a:buFont typeface="Wingdings" pitchFamily="2"/>
              <a:buChar char="Ø"/>
            </a:pPr>
            <a:r>
              <a:rPr lang="en-GB" sz="2100"/>
              <a:t>with the community</a:t>
            </a:r>
            <a:endParaRPr lang="en-US" sz="210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2F82BD8-F04C-7248-9EE2-FB82832B29CD}"/>
              </a:ext>
            </a:extLst>
          </p:cNvPr>
          <p:cNvSpPr txBox="1"/>
          <p:nvPr/>
        </p:nvSpPr>
        <p:spPr>
          <a:xfrm>
            <a:off x="628652" y="1329053"/>
            <a:ext cx="7886700" cy="6099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68566" tIns="68566" rIns="68566" bIns="68566" anchor="t" anchorCtr="0" compatLnSpc="1">
            <a:noAutofit/>
          </a:bodyPr>
          <a:lstStyle/>
          <a:p>
            <a:pPr defTabSz="685800" hangingPunct="0">
              <a:lnSpc>
                <a:spcPct val="90000"/>
              </a:lnSpc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3300" b="1">
                <a:solidFill>
                  <a:srgbClr val="FF0000"/>
                </a:solidFill>
                <a:latin typeface="VerbCond Extralight"/>
              </a:rPr>
              <a:t>What BIDS is NOT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C920DD3E-AC13-0D0E-F6BE-F354D20F7774}"/>
              </a:ext>
            </a:extLst>
          </p:cNvPr>
          <p:cNvSpPr txBox="1"/>
          <p:nvPr/>
        </p:nvSpPr>
        <p:spPr>
          <a:xfrm>
            <a:off x="6937626" y="6211666"/>
            <a:ext cx="220637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          @CyrilRPernet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hlinkClick r:id="rId3"/>
              </a:rPr>
              <a:t>wamcyril@gmail.com</a:t>
            </a:r>
            <a:endParaRPr lang="en-GB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D287-9A6D-F068-625A-F9FD0712A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Questions/Discussion?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0A34B-F3FE-70FA-9A9D-C871AC8F2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2" y="1562134"/>
            <a:ext cx="4427723" cy="4838666"/>
          </a:xfrm>
        </p:spPr>
        <p:txBody>
          <a:bodyPr>
            <a:normAutofit/>
          </a:bodyPr>
          <a:lstStyle/>
          <a:p>
            <a:r>
              <a:rPr lang="en-US" dirty="0"/>
              <a:t>Potential Discussions:</a:t>
            </a:r>
          </a:p>
          <a:p>
            <a:pPr lvl="1"/>
            <a:r>
              <a:rPr lang="en-US" dirty="0"/>
              <a:t>Code demos</a:t>
            </a:r>
          </a:p>
          <a:p>
            <a:pPr lvl="1"/>
            <a:r>
              <a:rPr lang="en-US" dirty="0"/>
              <a:t>Behavioral data examples</a:t>
            </a:r>
          </a:p>
          <a:p>
            <a:pPr lvl="1"/>
            <a:r>
              <a:rPr lang="en-US" dirty="0" err="1"/>
              <a:t>Sourcedata</a:t>
            </a:r>
            <a:r>
              <a:rPr lang="en-US" dirty="0"/>
              <a:t> &amp; derivatives</a:t>
            </a:r>
          </a:p>
          <a:p>
            <a:endParaRPr lang="en-US" dirty="0"/>
          </a:p>
          <a:p>
            <a:r>
              <a:rPr lang="en-US" dirty="0"/>
              <a:t>Notes:</a:t>
            </a:r>
          </a:p>
          <a:p>
            <a:pPr lvl="1"/>
            <a:r>
              <a:rPr lang="en-US" dirty="0"/>
              <a:t>PET standards are new/evolving</a:t>
            </a:r>
          </a:p>
          <a:p>
            <a:pPr lvl="1"/>
            <a:r>
              <a:rPr lang="en-US" dirty="0"/>
              <a:t>LC neuromelanin scan does not yet have a naming standard (Turbo Spin Echo)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80050F-8B9F-82DA-F245-3232DA2DA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425" y="1592373"/>
            <a:ext cx="4244214" cy="452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33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528</TotalTime>
  <Words>1636</Words>
  <Application>Microsoft Macintosh PowerPoint</Application>
  <PresentationFormat>On-screen Show (4:3)</PresentationFormat>
  <Paragraphs>281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Courier</vt:lpstr>
      <vt:lpstr>Courier New</vt:lpstr>
      <vt:lpstr>Roboto</vt:lpstr>
      <vt:lpstr>VerbCond Extralight</vt:lpstr>
      <vt:lpstr>Wingdings</vt:lpstr>
      <vt:lpstr>Office Theme</vt:lpstr>
      <vt:lpstr>A BIDS Refresher July 9, 2024</vt:lpstr>
      <vt:lpstr>PowerPoint Presentation</vt:lpstr>
      <vt:lpstr>PowerPoint Presentation</vt:lpstr>
      <vt:lpstr>PowerPoint Presentation</vt:lpstr>
      <vt:lpstr>Why is this Important?</vt:lpstr>
      <vt:lpstr>Today’s Focus:</vt:lpstr>
      <vt:lpstr>‘FAIR’ Guiding Principles for  Data Management</vt:lpstr>
      <vt:lpstr>CREDITS</vt:lpstr>
      <vt:lpstr>PowerPoint Presentation</vt:lpstr>
      <vt:lpstr>PowerPoint Presentation</vt:lpstr>
      <vt:lpstr>The BIDS goal is to make more data accessible to more researchers</vt:lpstr>
      <vt:lpstr>BIDS data structure basics</vt:lpstr>
      <vt:lpstr>Essence of BIDS</vt:lpstr>
      <vt:lpstr>BABS in BIDS</vt:lpstr>
      <vt:lpstr>Metadata as text files (tsv, json)</vt:lpstr>
      <vt:lpstr>Metadata as text files (tsv, json)</vt:lpstr>
      <vt:lpstr>Metadata as text files (tsv, json)</vt:lpstr>
      <vt:lpstr>Metadata as text files (tsv, json)</vt:lpstr>
      <vt:lpstr>Metadata as text files (tsv, json)</vt:lpstr>
      <vt:lpstr>Metadata as text files (tsv, json)</vt:lpstr>
      <vt:lpstr>Metadata as text files (tsv, json)</vt:lpstr>
      <vt:lpstr>Overarching Organization</vt:lpstr>
      <vt:lpstr>Session</vt:lpstr>
      <vt:lpstr>Data Type</vt:lpstr>
      <vt:lpstr>Modality/Run/Task</vt:lpstr>
      <vt:lpstr>Nifti &amp; JSON Sidecar Pairs</vt:lpstr>
      <vt:lpstr>BIDS Filenames</vt:lpstr>
      <vt:lpstr>BIDS Filenames: Entities</vt:lpstr>
      <vt:lpstr>BIDS Filenames: Entities</vt:lpstr>
      <vt:lpstr>BIDS Filenames: Entities</vt:lpstr>
      <vt:lpstr>BIDS Filenames: Entities (Keys)</vt:lpstr>
      <vt:lpstr>BIDS Filenames: Entities (Values)</vt:lpstr>
      <vt:lpstr>BIDS Specification</vt:lpstr>
      <vt:lpstr>PowerPoint Presentation</vt:lpstr>
      <vt:lpstr>Questions/Discussion?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Organizing Our Neuroimaging Data!</dc:title>
  <dc:creator>Microsoft Office User</dc:creator>
  <cp:lastModifiedBy>Morin, Thomas</cp:lastModifiedBy>
  <cp:revision>11</cp:revision>
  <dcterms:created xsi:type="dcterms:W3CDTF">2023-03-21T14:45:17Z</dcterms:created>
  <dcterms:modified xsi:type="dcterms:W3CDTF">2024-07-09T12:07:38Z</dcterms:modified>
</cp:coreProperties>
</file>